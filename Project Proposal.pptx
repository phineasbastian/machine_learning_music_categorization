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sldIdLst>
    <p:sldId id="256" r:id="rId2"/>
    <p:sldId id="257" r:id="rId3"/>
    <p:sldId id="259" r:id="rId4"/>
    <p:sldId id="260"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6F59E2-76C6-F8BC-51B3-0B0F930A104E}" v="210" dt="2026-02-09T14:25:57.581"/>
    <p1510:client id="{65ED12BF-D632-4A74-AC8F-C60374339EC8}" v="2" dt="2026-02-09T13:49:07.2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86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1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252D3020-470E-AF4A-8C72-FA648C0A28CB}" type="datetimeFigureOut">
              <a:rPr lang="en-US" smtClean="0"/>
              <a:t>3/5/2026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352532C0-165C-1C42-8924-6C8FE62C9FD7}"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63678605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2D3020-470E-AF4A-8C72-FA648C0A28CB}"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34460307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52D3020-470E-AF4A-8C72-FA648C0A28CB}"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2532C0-165C-1C42-8924-6C8FE62C9FD7}"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41617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52D3020-470E-AF4A-8C72-FA648C0A28CB}"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2556857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52D3020-470E-AF4A-8C72-FA648C0A28CB}" type="datetimeFigureOut">
              <a:rPr lang="en-US" smtClean="0"/>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40041597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52D3020-470E-AF4A-8C72-FA648C0A28CB}" type="datetimeFigureOut">
              <a:rPr lang="en-US" smtClean="0"/>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1089607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2D3020-470E-AF4A-8C72-FA648C0A28CB}" type="datetimeFigureOut">
              <a:rPr lang="en-US" smtClean="0"/>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32539835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2D3020-470E-AF4A-8C72-FA648C0A28CB}"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3665463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2D3020-470E-AF4A-8C72-FA648C0A28CB}" type="datetimeFigureOut">
              <a:rPr lang="en-US" smtClean="0"/>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2947241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2D3020-470E-AF4A-8C72-FA648C0A28CB}"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2898552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2D3020-470E-AF4A-8C72-FA648C0A28CB}" type="datetimeFigureOut">
              <a:rPr lang="en-US" smtClean="0"/>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52532C0-165C-1C42-8924-6C8FE62C9FD7}" type="slidenum">
              <a:rPr lang="en-US" smtClean="0"/>
              <a:t>‹#›</a:t>
            </a:fld>
            <a:endParaRPr lang="en-US"/>
          </a:p>
        </p:txBody>
      </p:sp>
    </p:spTree>
    <p:extLst>
      <p:ext uri="{BB962C8B-B14F-4D97-AF65-F5344CB8AC3E}">
        <p14:creationId xmlns:p14="http://schemas.microsoft.com/office/powerpoint/2010/main" val="40947588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252D3020-470E-AF4A-8C72-FA648C0A28CB}" type="datetimeFigureOut">
              <a:rPr lang="en-US" smtClean="0"/>
              <a:t>3/5/2026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352532C0-165C-1C42-8924-6C8FE62C9FD7}" type="slidenum">
              <a:rPr lang="en-US" smtClean="0"/>
              <a:t>‹#›</a:t>
            </a:fld>
            <a:endParaRPr lang="en-US"/>
          </a:p>
        </p:txBody>
      </p:sp>
    </p:spTree>
    <p:extLst>
      <p:ext uri="{BB962C8B-B14F-4D97-AF65-F5344CB8AC3E}">
        <p14:creationId xmlns:p14="http://schemas.microsoft.com/office/powerpoint/2010/main" val="386795312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7D92B3-C643-F9BE-D052-2F6D9165F90D}"/>
              </a:ext>
            </a:extLst>
          </p:cNvPr>
          <p:cNvSpPr>
            <a:spLocks noGrp="1"/>
          </p:cNvSpPr>
          <p:nvPr>
            <p:ph type="ctrTitle"/>
          </p:nvPr>
        </p:nvSpPr>
        <p:spPr/>
        <p:txBody>
          <a:bodyPr>
            <a:normAutofit/>
          </a:bodyPr>
          <a:lstStyle/>
          <a:p>
            <a:r>
              <a:rPr lang="en-US">
                <a:solidFill>
                  <a:srgbClr val="FFFFFF"/>
                </a:solidFill>
                <a:latin typeface="Century Schoolbook"/>
              </a:rPr>
              <a:t>Music Genre Classification</a:t>
            </a:r>
            <a:endParaRPr lang="en-US"/>
          </a:p>
        </p:txBody>
      </p:sp>
      <p:sp>
        <p:nvSpPr>
          <p:cNvPr id="3" name="Subtitle 2">
            <a:extLst>
              <a:ext uri="{FF2B5EF4-FFF2-40B4-BE49-F238E27FC236}">
                <a16:creationId xmlns:a16="http://schemas.microsoft.com/office/drawing/2014/main" id="{F8B9B549-6123-A06C-E8D3-81F8D65DC896}"/>
              </a:ext>
            </a:extLst>
          </p:cNvPr>
          <p:cNvSpPr>
            <a:spLocks noGrp="1"/>
          </p:cNvSpPr>
          <p:nvPr>
            <p:ph type="subTitle" idx="1"/>
          </p:nvPr>
        </p:nvSpPr>
        <p:spPr/>
        <p:txBody>
          <a:bodyPr/>
          <a:lstStyle/>
          <a:p>
            <a:r>
              <a:rPr lang="en-US"/>
              <a:t>Toluwani, Finn, Safwan</a:t>
            </a:r>
          </a:p>
        </p:txBody>
      </p:sp>
    </p:spTree>
    <p:extLst>
      <p:ext uri="{BB962C8B-B14F-4D97-AF65-F5344CB8AC3E}">
        <p14:creationId xmlns:p14="http://schemas.microsoft.com/office/powerpoint/2010/main" val="2110204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2FA44-C9CF-B441-0443-B34341CC9E83}"/>
              </a:ext>
            </a:extLst>
          </p:cNvPr>
          <p:cNvSpPr>
            <a:spLocks noGrp="1"/>
          </p:cNvSpPr>
          <p:nvPr>
            <p:ph type="title"/>
          </p:nvPr>
        </p:nvSpPr>
        <p:spPr/>
        <p:txBody>
          <a:bodyPr/>
          <a:lstStyle/>
          <a:p>
            <a:r>
              <a:rPr lang="en-US"/>
              <a:t>Problem / Stakeholders</a:t>
            </a:r>
          </a:p>
        </p:txBody>
      </p:sp>
      <p:sp>
        <p:nvSpPr>
          <p:cNvPr id="3" name="Content Placeholder 2">
            <a:extLst>
              <a:ext uri="{FF2B5EF4-FFF2-40B4-BE49-F238E27FC236}">
                <a16:creationId xmlns:a16="http://schemas.microsoft.com/office/drawing/2014/main" id="{A7CB40AF-19AC-8D33-6E3D-FE989AE3DB68}"/>
              </a:ext>
            </a:extLst>
          </p:cNvPr>
          <p:cNvSpPr>
            <a:spLocks noGrp="1"/>
          </p:cNvSpPr>
          <p:nvPr>
            <p:ph idx="1"/>
          </p:nvPr>
        </p:nvSpPr>
        <p:spPr/>
        <p:txBody>
          <a:bodyPr vert="horz" lIns="91440" tIns="45720" rIns="91440" bIns="45720" rtlCol="0" anchor="t">
            <a:normAutofit/>
          </a:bodyPr>
          <a:lstStyle/>
          <a:p>
            <a:pPr marL="0" indent="0">
              <a:buNone/>
            </a:pPr>
            <a:r>
              <a:rPr lang="en-US" sz="2400"/>
              <a:t>With the expansion of digital music streaming, platforms such as Spotify, Apple Music, and Pandora, need automated systems to classify millions of new tracks into genres to power recommendation algorithms and playlist generation. </a:t>
            </a:r>
          </a:p>
        </p:txBody>
      </p:sp>
      <p:pic>
        <p:nvPicPr>
          <p:cNvPr id="4" name="Picture 3" descr="File:Spotify logo without text.svg - Wikimedia Commons">
            <a:extLst>
              <a:ext uri="{FF2B5EF4-FFF2-40B4-BE49-F238E27FC236}">
                <a16:creationId xmlns:a16="http://schemas.microsoft.com/office/drawing/2014/main" id="{8DBFCBD5-3F60-84CE-90B0-6BD2EA6E6FFC}"/>
              </a:ext>
            </a:extLst>
          </p:cNvPr>
          <p:cNvPicPr>
            <a:picLocks noChangeAspect="1"/>
          </p:cNvPicPr>
          <p:nvPr/>
        </p:nvPicPr>
        <p:blipFill>
          <a:blip r:embed="rId2"/>
          <a:stretch>
            <a:fillRect/>
          </a:stretch>
        </p:blipFill>
        <p:spPr>
          <a:xfrm>
            <a:off x="8146415" y="4473575"/>
            <a:ext cx="1710690" cy="1700530"/>
          </a:xfrm>
          <a:prstGeom prst="rect">
            <a:avLst/>
          </a:prstGeom>
        </p:spPr>
      </p:pic>
      <p:pic>
        <p:nvPicPr>
          <p:cNvPr id="5" name="Picture 4" descr="File:Apple Music icon.svg - Wikimedia Commons">
            <a:extLst>
              <a:ext uri="{FF2B5EF4-FFF2-40B4-BE49-F238E27FC236}">
                <a16:creationId xmlns:a16="http://schemas.microsoft.com/office/drawing/2014/main" id="{2F878E98-7B01-16D0-7306-D25C743767F5}"/>
              </a:ext>
            </a:extLst>
          </p:cNvPr>
          <p:cNvPicPr>
            <a:picLocks noChangeAspect="1"/>
          </p:cNvPicPr>
          <p:nvPr/>
        </p:nvPicPr>
        <p:blipFill>
          <a:blip r:embed="rId3"/>
          <a:stretch>
            <a:fillRect/>
          </a:stretch>
        </p:blipFill>
        <p:spPr>
          <a:xfrm>
            <a:off x="5769701" y="4476478"/>
            <a:ext cx="1731010" cy="1710690"/>
          </a:xfrm>
          <a:prstGeom prst="rect">
            <a:avLst/>
          </a:prstGeom>
        </p:spPr>
      </p:pic>
      <p:pic>
        <p:nvPicPr>
          <p:cNvPr id="6" name="Picture 5" descr="File:Pandora radio logo.png - Wikimedia Commons">
            <a:extLst>
              <a:ext uri="{FF2B5EF4-FFF2-40B4-BE49-F238E27FC236}">
                <a16:creationId xmlns:a16="http://schemas.microsoft.com/office/drawing/2014/main" id="{CC22A77F-DB96-B8D4-6528-43E239EEB103}"/>
              </a:ext>
            </a:extLst>
          </p:cNvPr>
          <p:cNvPicPr>
            <a:picLocks noChangeAspect="1"/>
          </p:cNvPicPr>
          <p:nvPr/>
        </p:nvPicPr>
        <p:blipFill>
          <a:blip r:embed="rId4"/>
          <a:stretch>
            <a:fillRect/>
          </a:stretch>
        </p:blipFill>
        <p:spPr>
          <a:xfrm>
            <a:off x="3269134" y="4480560"/>
            <a:ext cx="1838960" cy="1706880"/>
          </a:xfrm>
          <a:prstGeom prst="rect">
            <a:avLst/>
          </a:prstGeom>
        </p:spPr>
      </p:pic>
    </p:spTree>
    <p:extLst>
      <p:ext uri="{BB962C8B-B14F-4D97-AF65-F5344CB8AC3E}">
        <p14:creationId xmlns:p14="http://schemas.microsoft.com/office/powerpoint/2010/main" val="1780566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D1CCF-000E-A99B-D478-B9597BA7FF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4345DC-3225-89B2-472C-758F16B7B1C9}"/>
              </a:ext>
            </a:extLst>
          </p:cNvPr>
          <p:cNvSpPr>
            <a:spLocks noGrp="1"/>
          </p:cNvSpPr>
          <p:nvPr>
            <p:ph type="title"/>
          </p:nvPr>
        </p:nvSpPr>
        <p:spPr/>
        <p:txBody>
          <a:bodyPr/>
          <a:lstStyle/>
          <a:p>
            <a:r>
              <a:rPr lang="en-US"/>
              <a:t>Dataset</a:t>
            </a:r>
          </a:p>
        </p:txBody>
      </p:sp>
      <p:sp>
        <p:nvSpPr>
          <p:cNvPr id="3" name="Content Placeholder 2">
            <a:extLst>
              <a:ext uri="{FF2B5EF4-FFF2-40B4-BE49-F238E27FC236}">
                <a16:creationId xmlns:a16="http://schemas.microsoft.com/office/drawing/2014/main" id="{160BC898-80C5-4CD7-7948-B6B64F359DFE}"/>
              </a:ext>
            </a:extLst>
          </p:cNvPr>
          <p:cNvSpPr>
            <a:spLocks noGrp="1"/>
          </p:cNvSpPr>
          <p:nvPr>
            <p:ph idx="1"/>
          </p:nvPr>
        </p:nvSpPr>
        <p:spPr/>
        <p:txBody>
          <a:bodyPr vert="horz" lIns="91440" tIns="45720" rIns="91440" bIns="45720" rtlCol="0" anchor="t">
            <a:normAutofit/>
          </a:bodyPr>
          <a:lstStyle/>
          <a:p>
            <a:r>
              <a:rPr lang="en-US" sz="2400"/>
              <a:t>We will use the GTZAN Genre Collection.</a:t>
            </a:r>
          </a:p>
          <a:p>
            <a:r>
              <a:rPr lang="en-US" sz="2400"/>
              <a:t>Well known academic benchmark</a:t>
            </a:r>
          </a:p>
          <a:p>
            <a:r>
              <a:rPr lang="en-US" sz="2400"/>
              <a:t>~1.2GB, consisting of 1,000 audio tracks</a:t>
            </a:r>
          </a:p>
          <a:p>
            <a:r>
              <a:rPr lang="en-US" sz="2400"/>
              <a:t>10 genres (Blues, Classical, Country, Disco, Hip-hop, Jazz, Metal, Pop, Reggae, Rock), with 100 tracks per genre.</a:t>
            </a:r>
          </a:p>
        </p:txBody>
      </p:sp>
    </p:spTree>
    <p:extLst>
      <p:ext uri="{BB962C8B-B14F-4D97-AF65-F5344CB8AC3E}">
        <p14:creationId xmlns:p14="http://schemas.microsoft.com/office/powerpoint/2010/main" val="9967624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D87C8-2627-5451-F633-809E4ED9C5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E74F14-B938-CE80-70B4-C6A5B11EAE65}"/>
              </a:ext>
            </a:extLst>
          </p:cNvPr>
          <p:cNvSpPr>
            <a:spLocks noGrp="1"/>
          </p:cNvSpPr>
          <p:nvPr>
            <p:ph type="title"/>
          </p:nvPr>
        </p:nvSpPr>
        <p:spPr/>
        <p:txBody>
          <a:bodyPr/>
          <a:lstStyle/>
          <a:p>
            <a:r>
              <a:rPr lang="en-US"/>
              <a:t>ML Models</a:t>
            </a:r>
          </a:p>
        </p:txBody>
      </p:sp>
      <p:sp>
        <p:nvSpPr>
          <p:cNvPr id="3" name="Content Placeholder 2">
            <a:extLst>
              <a:ext uri="{FF2B5EF4-FFF2-40B4-BE49-F238E27FC236}">
                <a16:creationId xmlns:a16="http://schemas.microsoft.com/office/drawing/2014/main" id="{A98B3977-D043-B380-5AA9-3C834B665AA1}"/>
              </a:ext>
            </a:extLst>
          </p:cNvPr>
          <p:cNvSpPr>
            <a:spLocks noGrp="1"/>
          </p:cNvSpPr>
          <p:nvPr>
            <p:ph idx="1"/>
          </p:nvPr>
        </p:nvSpPr>
        <p:spPr/>
        <p:txBody>
          <a:bodyPr vert="horz" lIns="91440" tIns="45720" rIns="91440" bIns="45720" rtlCol="0" anchor="t">
            <a:normAutofit/>
          </a:bodyPr>
          <a:lstStyle/>
          <a:p>
            <a:pPr marL="0" indent="0">
              <a:buNone/>
            </a:pPr>
            <a:r>
              <a:rPr lang="en-US" sz="2400">
                <a:latin typeface="Century Schoolbook"/>
              </a:rPr>
              <a:t>Librosa</a:t>
            </a:r>
          </a:p>
          <a:p>
            <a:r>
              <a:rPr lang="en-US" sz="2000">
                <a:latin typeface="Century Schoolbook"/>
              </a:rPr>
              <a:t> We can use this python library to extract mathematical features from the audio</a:t>
            </a:r>
          </a:p>
          <a:p>
            <a:r>
              <a:rPr lang="en-US" sz="2000">
                <a:latin typeface="Century Schoolbook"/>
              </a:rPr>
              <a:t>Traditional signal processing approach</a:t>
            </a:r>
          </a:p>
          <a:p>
            <a:pPr marL="0" indent="0">
              <a:buNone/>
            </a:pPr>
            <a:r>
              <a:rPr lang="en-US" sz="2400">
                <a:latin typeface="Century Schoolbook"/>
              </a:rPr>
              <a:t>Image based</a:t>
            </a:r>
          </a:p>
          <a:p>
            <a:pPr marL="342900" indent="-342900"/>
            <a:r>
              <a:rPr lang="en-US" sz="2000">
                <a:latin typeface="Century Schoolbook"/>
              </a:rPr>
              <a:t>Convert the audio clips into spectrograms and train neural network to classify the genre using sound patterns</a:t>
            </a:r>
          </a:p>
          <a:p>
            <a:pPr marL="342900" indent="-342900"/>
            <a:r>
              <a:rPr lang="en-US" sz="2000">
                <a:latin typeface="Century Schoolbook"/>
              </a:rPr>
              <a:t>Modern deep learning approach</a:t>
            </a:r>
          </a:p>
        </p:txBody>
      </p:sp>
    </p:spTree>
    <p:extLst>
      <p:ext uri="{BB962C8B-B14F-4D97-AF65-F5344CB8AC3E}">
        <p14:creationId xmlns:p14="http://schemas.microsoft.com/office/powerpoint/2010/main" val="1866320802"/>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View</Template>
  <TotalTime>1</TotalTime>
  <Words>143</Words>
  <Application>Microsoft Office PowerPoint</Application>
  <PresentationFormat>Widescreen</PresentationFormat>
  <Paragraphs>16</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Century Schoolbook</vt:lpstr>
      <vt:lpstr>Wingdings 2</vt:lpstr>
      <vt:lpstr>View</vt:lpstr>
      <vt:lpstr>Music Genre Classification</vt:lpstr>
      <vt:lpstr>Problem / Stakeholders</vt:lpstr>
      <vt:lpstr>Dataset</vt:lpstr>
      <vt:lpstr>ML Models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Alao, Toluwani I</dc:creator>
  <cp:lastModifiedBy>Shikder, Safwan</cp:lastModifiedBy>
  <cp:revision>2</cp:revision>
  <dcterms:created xsi:type="dcterms:W3CDTF">2026-02-09T04:38:43Z</dcterms:created>
  <dcterms:modified xsi:type="dcterms:W3CDTF">2026-03-06T01:41:09Z</dcterms:modified>
</cp:coreProperties>
</file>