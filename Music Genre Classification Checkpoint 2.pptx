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1" r:id="rId4"/>
    <p:sldId id="263" r:id="rId5"/>
    <p:sldId id="266" r:id="rId6"/>
    <p:sldId id="265" r:id="rId7"/>
    <p:sldId id="267" r:id="rId8"/>
    <p:sldId id="268" r:id="rId9"/>
    <p:sldId id="269" r:id="rId10"/>
    <p:sldId id="271" r:id="rId11"/>
    <p:sldId id="270" r:id="rId12"/>
    <p:sldId id="262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60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3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161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5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5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0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8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3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4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5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5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252D3020-470E-AF4A-8C72-FA648C0A28CB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52532C0-165C-1C42-8924-6C8FE62C9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92B3-C643-F9BE-D052-2F6D9165F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Century Schoolbook"/>
              </a:rPr>
              <a:t>Music Genre Classification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9B549-6123-A06C-E8D3-81F8D65DC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Toluwani, Finn, Safwan</a:t>
            </a:r>
          </a:p>
        </p:txBody>
      </p:sp>
    </p:spTree>
    <p:extLst>
      <p:ext uri="{BB962C8B-B14F-4D97-AF65-F5344CB8AC3E}">
        <p14:creationId xmlns:p14="http://schemas.microsoft.com/office/powerpoint/2010/main" val="21102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FA44-C9CF-B441-0443-B34341CC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</a:t>
            </a:r>
          </a:p>
        </p:txBody>
      </p:sp>
      <p:pic>
        <p:nvPicPr>
          <p:cNvPr id="4" name="Picture 3" descr="File:Spotify logo without text.svg - Wikimedia Commons">
            <a:extLst>
              <a:ext uri="{FF2B5EF4-FFF2-40B4-BE49-F238E27FC236}">
                <a16:creationId xmlns:a16="http://schemas.microsoft.com/office/drawing/2014/main" id="{8DBFCBD5-3F60-84CE-90B0-6BD2EA6E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335" y="368935"/>
            <a:ext cx="908050" cy="897890"/>
          </a:xfrm>
          <a:prstGeom prst="rect">
            <a:avLst/>
          </a:prstGeom>
        </p:spPr>
      </p:pic>
      <p:pic>
        <p:nvPicPr>
          <p:cNvPr id="5" name="Picture 4" descr="File:Apple Music icon.svg - Wikimedia Commons">
            <a:extLst>
              <a:ext uri="{FF2B5EF4-FFF2-40B4-BE49-F238E27FC236}">
                <a16:creationId xmlns:a16="http://schemas.microsoft.com/office/drawing/2014/main" id="{2F878E98-7B01-16D0-7306-D25C7437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861" y="392158"/>
            <a:ext cx="918210" cy="867410"/>
          </a:xfrm>
          <a:prstGeom prst="rect">
            <a:avLst/>
          </a:prstGeom>
        </p:spPr>
      </p:pic>
      <p:pic>
        <p:nvPicPr>
          <p:cNvPr id="6" name="Picture 5" descr="File:Pandora radio logo.png - Wikimedia Commons">
            <a:extLst>
              <a:ext uri="{FF2B5EF4-FFF2-40B4-BE49-F238E27FC236}">
                <a16:creationId xmlns:a16="http://schemas.microsoft.com/office/drawing/2014/main" id="{CC22A77F-DB96-B8D4-6528-43E239EE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694" y="345440"/>
            <a:ext cx="1026160" cy="9550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0BC898-80C5-4CD7-7948-B6B64F359DFE}"/>
              </a:ext>
            </a:extLst>
          </p:cNvPr>
          <p:cNvSpPr>
            <a:spLocks noGrp="1"/>
          </p:cNvSpPr>
          <p:nvPr/>
        </p:nvSpPr>
        <p:spPr>
          <a:xfrm>
            <a:off x="794512" y="195072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Using the GTZAN Genre Collection.</a:t>
            </a:r>
          </a:p>
          <a:p>
            <a:r>
              <a:rPr lang="en-US" sz="2400"/>
              <a:t>10 genres (Blues, Classical, Country, Disco, Hip-hop, Jazz, Metal, Pop, Reggae, Rock), with 100 tracks per genre.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/>
              <a:t>ML Models</a:t>
            </a:r>
          </a:p>
          <a:p>
            <a:r>
              <a:rPr lang="en-US" sz="2400" u="sng"/>
              <a:t>Librosa</a:t>
            </a:r>
          </a:p>
          <a:p>
            <a:r>
              <a:rPr lang="en-US" sz="2000"/>
              <a:t>Traditional signal processing approach</a:t>
            </a:r>
          </a:p>
          <a:p>
            <a:r>
              <a:rPr lang="en-US" sz="2400" u="sng"/>
              <a:t>Image based</a:t>
            </a:r>
          </a:p>
          <a:p>
            <a:pPr marL="342900" indent="-342900"/>
            <a:r>
              <a:rPr lang="en-US" sz="2000"/>
              <a:t>Convert the audio clips into spectrograms and train neural network to classify the genre using sound patterns</a:t>
            </a:r>
          </a:p>
          <a:p>
            <a:pPr marL="342900" indent="-342900"/>
            <a:r>
              <a:rPr lang="en-US" sz="2000"/>
              <a:t>Modern deep learning approach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66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EA6AE-95FE-ACB0-04EB-175D3DAEE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278" y="-729787"/>
            <a:ext cx="9692640" cy="1325562"/>
          </a:xfrm>
        </p:spPr>
        <p:txBody>
          <a:bodyPr>
            <a:normAutofit/>
          </a:bodyPr>
          <a:lstStyle/>
          <a:p>
            <a:r>
              <a:rPr lang="en-US" sz="4000"/>
              <a:t>Milestones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A3B3FC-4B64-F7C5-55F0-7161550463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205091"/>
              </p:ext>
            </p:extLst>
          </p:nvPr>
        </p:nvGraphicFramePr>
        <p:xfrm>
          <a:off x="322278" y="595775"/>
          <a:ext cx="10414884" cy="617889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07442">
                  <a:extLst>
                    <a:ext uri="{9D8B030D-6E8A-4147-A177-3AD203B41FA5}">
                      <a16:colId xmlns:a16="http://schemas.microsoft.com/office/drawing/2014/main" val="4199689738"/>
                    </a:ext>
                  </a:extLst>
                </a:gridCol>
                <a:gridCol w="5207442">
                  <a:extLst>
                    <a:ext uri="{9D8B030D-6E8A-4147-A177-3AD203B41FA5}">
                      <a16:colId xmlns:a16="http://schemas.microsoft.com/office/drawing/2014/main" val="1808980104"/>
                    </a:ext>
                  </a:extLst>
                </a:gridCol>
              </a:tblGrid>
              <a:tr h="11063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1: Data Architecture &amp;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Validate 1,000 GTZAN tracks; handle corrupted </a:t>
                      </a:r>
                      <a:r>
                        <a:rPr lang="en-US" sz="1600" b="0" kern="1200">
                          <a:solidFill>
                            <a:schemeClr val="tx1"/>
                          </a:solidFill>
                        </a:rPr>
                        <a:t>.au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 files (e.g., </a:t>
                      </a:r>
                      <a:r>
                        <a:rPr lang="en-US" sz="1600" b="0" kern="1200">
                          <a:solidFill>
                            <a:schemeClr val="tx1"/>
                          </a:solidFill>
                        </a:rPr>
                        <a:t>jazz.00054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). Implement a stratified 70/15/15 split to ensure genre balance across training and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212306"/>
                  </a:ext>
                </a:extLst>
              </a:tr>
              <a:tr h="13616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2: Multi-Dimensional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Extract acoustic "fingerprints" using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</a:rPr>
                        <a:t>Librosa</a:t>
                      </a:r>
                      <a:r>
                        <a:rPr lang="en-US" sz="1600"/>
                        <a:t>. Key metrics: MFCCs (timbre), Spectral Centroid (brightness), Chroma (harmony), and RMS Energy (amplitude). Export to structured CSV.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58367"/>
                  </a:ext>
                </a:extLst>
              </a:tr>
              <a:tr h="13616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3: Traditional ML &amp; Baseline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Benchmark classification using Random Forest and SVM. Apply </a:t>
                      </a:r>
                      <a:r>
                        <a:rPr lang="en-US" sz="1600" kern="1200" err="1">
                          <a:solidFill>
                            <a:schemeClr val="dk1"/>
                          </a:solidFill>
                        </a:rPr>
                        <a:t>StandardScaler</a:t>
                      </a:r>
                      <a:r>
                        <a:rPr lang="en-US" sz="1600"/>
                        <a:t> for normalization. Evaluate via Confusion Matrices to identify "style-overlap" (e.g., Rock vs. Metal).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881027"/>
                  </a:ext>
                </a:extLst>
              </a:tr>
              <a:tr h="11063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4: Deep Learning &amp; Neural Architectures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Convert audio to Mel-Spectrograms (image-based sound). Train a Convolutional Neural Network (CNN) to "see" musical patterns, leveraging computer vision for higher accuracy.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06851"/>
                  </a:ext>
                </a:extLst>
              </a:tr>
              <a:tr h="124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/>
                        <a:t>Milestone 5: AI vs. Human Discriminator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Pivot to binary classification. Train the model on a new dataset of Suno/</a:t>
                      </a:r>
                      <a:r>
                        <a:rPr lang="en-US" sz="1600" err="1"/>
                        <a:t>Udio</a:t>
                      </a:r>
                      <a:r>
                        <a:rPr lang="en-US" sz="1600"/>
                        <a:t> (AI) vs. GTZAN (Human) to identify "spectral artifacts" unique to generated audio.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875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2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39E0-7A80-A9CE-52B6-CD5E73605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325562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b="1"/>
              <a:t>Milestone 1: Data Integrity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3551-0B7E-7977-B67F-93852604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1547038"/>
            <a:ext cx="8595360" cy="4351337"/>
          </a:xfrm>
        </p:spPr>
        <p:txBody>
          <a:bodyPr>
            <a:normAutofit/>
          </a:bodyPr>
          <a:lstStyle/>
          <a:p>
            <a:r>
              <a:rPr lang="en-US" sz="2400"/>
              <a:t>Goal: Prove that your dataset is high-quality and free of technical glitches that ruin models.</a:t>
            </a:r>
          </a:p>
          <a:p>
            <a:r>
              <a:rPr lang="en-US" sz="2400"/>
              <a:t>Action Taken: Implemented an automated Integrity Audit using </a:t>
            </a:r>
            <a:r>
              <a:rPr lang="en-US" sz="2400" err="1"/>
              <a:t>librosa</a:t>
            </a:r>
            <a:r>
              <a:rPr lang="en-US" sz="2400"/>
              <a:t> to bypass the "GTZAN Dead File" issue.</a:t>
            </a:r>
          </a:p>
          <a:p>
            <a:r>
              <a:rPr lang="en-US" sz="2400"/>
              <a:t>The "Why": Standard datasets like GTZAN often contain corrupted headers (notably jazz.00054.au). Processing these without a filter causes "Silent Failures" or crashes during deep learning training.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573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13C23-9455-D9D1-F3E3-169928C0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FB768-9A4B-4C93-FEC9-919E4A3B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85000"/>
              </a:lnSpc>
              <a:defRPr/>
            </a:pPr>
            <a:r>
              <a:rPr lang="en-US" sz="3800" b="1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6276517-7512-F9A6-9BDF-E3FE9005B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825652"/>
            <a:ext cx="9594723" cy="345409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59E0-C5C0-41B9-E9E1-7B3567A5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7ECE-8A95-9CFE-9EC5-3040110F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430619"/>
            <a:ext cx="9692640" cy="1325562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b="1"/>
              <a:t>Milestone 1: Data Architecture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8225-EB3F-3FCB-84BB-CB8AF985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1982973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Goal: Show prevention of model bias through stratified sampling.</a:t>
            </a:r>
          </a:p>
          <a:p>
            <a:r>
              <a:rPr lang="en-US" sz="2000"/>
              <a:t>Engineered a Stratified 70/15/15 Split to ensure perfectly balanced representation across Training, Validation, and Testing sets.</a:t>
            </a:r>
          </a:p>
          <a:p>
            <a:r>
              <a:rPr lang="en-US" sz="2000"/>
              <a:t>If a model sees more "Rock" than "Jazz" during training, it will develop a bias. Stratification ensures that the 10% frequency of each genre is maintained across all three data subsets.</a:t>
            </a:r>
          </a:p>
          <a:p>
            <a:r>
              <a:rPr lang="en-US" sz="2000"/>
              <a:t>Process Architecture:</a:t>
            </a:r>
          </a:p>
          <a:p>
            <a:pPr lvl="1"/>
            <a:r>
              <a:rPr lang="en-US" sz="1800"/>
              <a:t>Split 1: 70% of each genre allocated to Training.</a:t>
            </a:r>
          </a:p>
          <a:p>
            <a:pPr lvl="1"/>
            <a:r>
              <a:rPr lang="en-US" sz="1800"/>
              <a:t>Split 2: The remaining 30% split 50/50 into Validation (15%) and Testing (15%).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1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9482-EAF5-1DB0-FFD2-D0CFA9FE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Milestone 2: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18178-0583-626C-9768-9D45F0BE7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Action: Developed a Signal Processing pipeline using </a:t>
            </a:r>
            <a:r>
              <a:rPr lang="en-US" sz="2000" err="1"/>
              <a:t>librosa</a:t>
            </a:r>
            <a:r>
              <a:rPr lang="en-US" sz="2000"/>
              <a:t> to reduce dimensionality from 660,000 raw samples per track to 60+ core statistical features.</a:t>
            </a:r>
          </a:p>
          <a:p>
            <a:r>
              <a:rPr lang="en-US" sz="2000"/>
              <a:t>Feature Selection Strategy:</a:t>
            </a:r>
          </a:p>
          <a:p>
            <a:pPr lvl="1"/>
            <a:r>
              <a:rPr lang="en-US" sz="1800"/>
              <a:t>Timbre (MFCCs 1–20): Expanded extraction beyond the standard 13 coefficients. </a:t>
            </a:r>
            <a:r>
              <a:rPr lang="en-US" sz="1800" i="1"/>
              <a:t>Crucial for Milestone 4: High-frequency MFCCs are where AI-generated artifacts typically hide.</a:t>
            </a:r>
            <a:endParaRPr lang="en-US" sz="1800"/>
          </a:p>
          <a:p>
            <a:pPr lvl="1"/>
            <a:r>
              <a:rPr lang="en-US" sz="1800"/>
              <a:t>Brightness (Spectral Centroid): Quantifies the "center of mass" of the frequency spectrum to separate high-energy genres (Metal) from low-energy (Classical).</a:t>
            </a:r>
          </a:p>
          <a:p>
            <a:pPr lvl="1"/>
            <a:r>
              <a:rPr lang="en-US" sz="1800"/>
              <a:t>Rhythm/Energy: Calculated RMS Energy and Amplitude Envelope to capture the track's dynamic range.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81728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4BF5-B4C3-B41C-4F8F-BD3B604A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Milestone 2: Data Engineering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0828C-7392-DC27-B240-F0BC8932E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/>
              <a:t>Focus: Evidence of success, data integrity, and preparation for ML.</a:t>
            </a:r>
            <a:endParaRPr lang="en-US"/>
          </a:p>
          <a:p>
            <a:r>
              <a:rPr lang="en-US"/>
              <a:t>Throughput &amp; Success Rate:</a:t>
            </a:r>
          </a:p>
          <a:p>
            <a:pPr lvl="1"/>
            <a:r>
              <a:rPr lang="en-US"/>
              <a:t>Processed 1,000 tracks across 3 splits (Train: 700, Val: 150, Test: 150).</a:t>
            </a:r>
          </a:p>
          <a:p>
            <a:pPr lvl="1"/>
            <a:r>
              <a:rPr lang="en-US"/>
              <a:t>Result: 0% failure rate. Every .au file was successfully parsed into the _features.csv format.</a:t>
            </a:r>
          </a:p>
          <a:p>
            <a:r>
              <a:rPr lang="en-US"/>
              <a:t>Key Coding Adjustments:</a:t>
            </a:r>
          </a:p>
          <a:p>
            <a:pPr lvl="1"/>
            <a:r>
              <a:rPr lang="en-US"/>
              <a:t>Noise Filtering: Implemented </a:t>
            </a:r>
            <a:r>
              <a:rPr lang="en-US" err="1"/>
              <a:t>warnings.filterwarnings</a:t>
            </a:r>
            <a:r>
              <a:rPr lang="en-US"/>
              <a:t>('ignore') to handle specific </a:t>
            </a:r>
            <a:r>
              <a:rPr lang="en-US" err="1"/>
              <a:t>librosa</a:t>
            </a:r>
            <a:r>
              <a:rPr lang="en-US"/>
              <a:t>/</a:t>
            </a:r>
            <a:r>
              <a:rPr lang="en-US" err="1"/>
              <a:t>audioread</a:t>
            </a:r>
            <a:r>
              <a:rPr lang="en-US"/>
              <a:t> metadata warnings, ensuring a clean automated batch process.</a:t>
            </a:r>
          </a:p>
          <a:p>
            <a:pPr lvl="1"/>
            <a:r>
              <a:rPr lang="en-US"/>
              <a:t>Normalization Ready: Prepared data for Milestone 3 by organizing columns so that the Target Variable (Genre) remains attached to the feature vector.</a:t>
            </a:r>
          </a:p>
          <a:p>
            <a:r>
              <a:rPr lang="en-US"/>
              <a:t>Data Summary:</a:t>
            </a:r>
          </a:p>
          <a:p>
            <a:pPr lvl="1"/>
            <a:r>
              <a:rPr lang="en-US"/>
              <a:t>Input: Raw 30s .au files (approx. 1GB total).</a:t>
            </a:r>
          </a:p>
          <a:p>
            <a:pPr lvl="1"/>
            <a:r>
              <a:rPr lang="en-US"/>
              <a:t>Output: Three lightweight CSVs (approx. &lt; 2MB total).</a:t>
            </a:r>
          </a:p>
          <a:p>
            <a:pPr lvl="1"/>
            <a:r>
              <a:rPr lang="en-US"/>
              <a:t>Conclusion: The data is now "ML-Ready"—mathematically dense, labeled, and scaled-ready.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0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2E1BC2-BD8C-AB68-3D9A-E46D016B7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667" y="1065696"/>
            <a:ext cx="9548706" cy="47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3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19D8C2-8161-CA56-674D-67465AC2C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354" y="281517"/>
            <a:ext cx="8297195" cy="620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82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AAB6C-85CD-82B5-904B-FC0512D6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81E1F-2942-E38C-89FC-9A89DC31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98" y="2885676"/>
            <a:ext cx="9692640" cy="1325562"/>
          </a:xfrm>
        </p:spPr>
        <p:txBody>
          <a:bodyPr/>
          <a:lstStyle/>
          <a:p>
            <a:r>
              <a:rPr lang="en-US" b="1"/>
              <a:t>Milestone 3:Statistical Modeling &amp; Hyperparameter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433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461E-B3EE-3FA7-36D2-5EB90F5A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27722"/>
          </a:xfrm>
        </p:spPr>
        <p:txBody>
          <a:bodyPr/>
          <a:lstStyle/>
          <a:p>
            <a:r>
              <a:rPr lang="en-US"/>
              <a:t>Spectrogram Generation</a:t>
            </a:r>
          </a:p>
        </p:txBody>
      </p:sp>
      <p:pic>
        <p:nvPicPr>
          <p:cNvPr id="4" name="Picture 3" descr="A collage of different colored lines&#10;&#10;AI-generated content may be incorrect.">
            <a:extLst>
              <a:ext uri="{FF2B5EF4-FFF2-40B4-BE49-F238E27FC236}">
                <a16:creationId xmlns:a16="http://schemas.microsoft.com/office/drawing/2014/main" id="{72299CC3-2C3E-656C-A9D5-8A92B0734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42" y="1437828"/>
            <a:ext cx="7976594" cy="492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FDB6-FE2A-04EF-EEBD-FCF0454C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B0FD-7DFA-575C-F194-CA3E789D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27722"/>
          </a:xfrm>
        </p:spPr>
        <p:txBody>
          <a:bodyPr/>
          <a:lstStyle/>
          <a:p>
            <a:r>
              <a:rPr lang="en-US"/>
              <a:t>Spectrogram Generation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CDCCC55-DC2F-8D89-8CCC-9E00144E87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46" name="Picture 22">
            <a:extLst>
              <a:ext uri="{FF2B5EF4-FFF2-40B4-BE49-F238E27FC236}">
                <a16:creationId xmlns:a16="http://schemas.microsoft.com/office/drawing/2014/main" id="{D1055480-80A6-9E0E-3FDC-0D53CCCF6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44" y="1494472"/>
            <a:ext cx="9692640" cy="4997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03704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 Proposal</Template>
  <TotalTime>0</TotalTime>
  <Words>755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Music Genre Classification</vt:lpstr>
      <vt:lpstr>Intro</vt:lpstr>
      <vt:lpstr>Milestones</vt:lpstr>
      <vt:lpstr>Milestone 1: Data Integrity </vt:lpstr>
      <vt:lpstr>Data Integrity</vt:lpstr>
      <vt:lpstr>Milestone 1: Data Architecture &amp; Preprocessing</vt:lpstr>
      <vt:lpstr>Milestone 2: Feature Extraction</vt:lpstr>
      <vt:lpstr>Milestone 2: Data Engineering &amp; Validation</vt:lpstr>
      <vt:lpstr>PowerPoint Presentation</vt:lpstr>
      <vt:lpstr>PowerPoint Presentation</vt:lpstr>
      <vt:lpstr>Milestone 3:Statistical Modeling &amp; Hyperparameter Optimization</vt:lpstr>
      <vt:lpstr>Spectrogram Generation</vt:lpstr>
      <vt:lpstr>Spectrogram Generation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Alao, Toluwani I</dc:creator>
  <cp:lastModifiedBy>Shikder, Safwan</cp:lastModifiedBy>
  <cp:revision>3</cp:revision>
  <dcterms:created xsi:type="dcterms:W3CDTF">2026-03-09T13:33:29Z</dcterms:created>
  <dcterms:modified xsi:type="dcterms:W3CDTF">2026-04-13T13:44:16Z</dcterms:modified>
</cp:coreProperties>
</file>