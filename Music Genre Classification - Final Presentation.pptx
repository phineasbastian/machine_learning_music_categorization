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4"/>
  </p:sldMasterIdLst>
  <p:notesMasterIdLst>
    <p:notesMasterId r:id="rId26"/>
  </p:notesMasterIdLst>
  <p:sldIdLst>
    <p:sldId id="256" r:id="rId5"/>
    <p:sldId id="257" r:id="rId6"/>
    <p:sldId id="261" r:id="rId7"/>
    <p:sldId id="290" r:id="rId8"/>
    <p:sldId id="279" r:id="rId9"/>
    <p:sldId id="281" r:id="rId10"/>
    <p:sldId id="289" r:id="rId11"/>
    <p:sldId id="296" r:id="rId12"/>
    <p:sldId id="280" r:id="rId13"/>
    <p:sldId id="297" r:id="rId14"/>
    <p:sldId id="294" r:id="rId15"/>
    <p:sldId id="298" r:id="rId16"/>
    <p:sldId id="284" r:id="rId17"/>
    <p:sldId id="300" r:id="rId18"/>
    <p:sldId id="292" r:id="rId19"/>
    <p:sldId id="301" r:id="rId20"/>
    <p:sldId id="293" r:id="rId21"/>
    <p:sldId id="287" r:id="rId22"/>
    <p:sldId id="286" r:id="rId23"/>
    <p:sldId id="291" r:id="rId24"/>
    <p:sldId id="29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CF280B-B0D5-4E71-8DA1-05E8A38F9E36}" v="101" dt="2026-04-29T14:44:29.993"/>
    <p1510:client id="{E7DB9795-4D82-408D-BBCA-A4278094E520}" v="14" dt="2026-04-29T14:16:16.5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o, Toluwani I" userId="5a2783ac-4db0-4a69-b6bb-eb51845e9ade" providerId="ADAL" clId="{6E8F820F-DCCB-49FF-989D-BEE5C34A25CB}"/>
    <pc:docChg chg="undo custSel addSld delSld modSld sldOrd">
      <pc:chgData name="Alao, Toluwani I" userId="5a2783ac-4db0-4a69-b6bb-eb51845e9ade" providerId="ADAL" clId="{6E8F820F-DCCB-49FF-989D-BEE5C34A25CB}" dt="2026-04-29T14:44:29.993" v="647" actId="20577"/>
      <pc:docMkLst>
        <pc:docMk/>
      </pc:docMkLst>
      <pc:sldChg chg="modSp mod">
        <pc:chgData name="Alao, Toluwani I" userId="5a2783ac-4db0-4a69-b6bb-eb51845e9ade" providerId="ADAL" clId="{6E8F820F-DCCB-49FF-989D-BEE5C34A25CB}" dt="2026-04-29T13:05:25.119" v="298" actId="20577"/>
        <pc:sldMkLst>
          <pc:docMk/>
          <pc:sldMk cId="3824343516" sldId="291"/>
        </pc:sldMkLst>
        <pc:spChg chg="mod">
          <ac:chgData name="Alao, Toluwani I" userId="5a2783ac-4db0-4a69-b6bb-eb51845e9ade" providerId="ADAL" clId="{6E8F820F-DCCB-49FF-989D-BEE5C34A25CB}" dt="2026-04-29T13:05:25.119" v="298" actId="20577"/>
          <ac:spMkLst>
            <pc:docMk/>
            <pc:sldMk cId="3824343516" sldId="291"/>
            <ac:spMk id="3" creationId="{A0F5494A-E698-7E3B-D2B0-55438DFD5405}"/>
          </ac:spMkLst>
        </pc:spChg>
      </pc:sldChg>
      <pc:sldChg chg="ord">
        <pc:chgData name="Alao, Toluwani I" userId="5a2783ac-4db0-4a69-b6bb-eb51845e9ade" providerId="ADAL" clId="{6E8F820F-DCCB-49FF-989D-BEE5C34A25CB}" dt="2026-04-29T13:10:10.651" v="466"/>
        <pc:sldMkLst>
          <pc:docMk/>
          <pc:sldMk cId="2610690468" sldId="292"/>
        </pc:sldMkLst>
      </pc:sldChg>
      <pc:sldChg chg="modSp mod">
        <pc:chgData name="Alao, Toluwani I" userId="5a2783ac-4db0-4a69-b6bb-eb51845e9ade" providerId="ADAL" clId="{6E8F820F-DCCB-49FF-989D-BEE5C34A25CB}" dt="2026-04-29T02:50:00.558" v="17" actId="20577"/>
        <pc:sldMkLst>
          <pc:docMk/>
          <pc:sldMk cId="3092357267" sldId="297"/>
        </pc:sldMkLst>
        <pc:spChg chg="mod">
          <ac:chgData name="Alao, Toluwani I" userId="5a2783ac-4db0-4a69-b6bb-eb51845e9ade" providerId="ADAL" clId="{6E8F820F-DCCB-49FF-989D-BEE5C34A25CB}" dt="2026-04-29T02:50:00.558" v="17" actId="20577"/>
          <ac:spMkLst>
            <pc:docMk/>
            <pc:sldMk cId="3092357267" sldId="297"/>
            <ac:spMk id="11" creationId="{3C0840B3-F11C-C114-9325-FBFFD5810C23}"/>
          </ac:spMkLst>
        </pc:spChg>
      </pc:sldChg>
      <pc:sldChg chg="addSp delSp modSp add mod ord">
        <pc:chgData name="Alao, Toluwani I" userId="5a2783ac-4db0-4a69-b6bb-eb51845e9ade" providerId="ADAL" clId="{6E8F820F-DCCB-49FF-989D-BEE5C34A25CB}" dt="2026-04-29T02:53:14.767" v="61" actId="1076"/>
        <pc:sldMkLst>
          <pc:docMk/>
          <pc:sldMk cId="59424050" sldId="298"/>
        </pc:sldMkLst>
        <pc:spChg chg="mod">
          <ac:chgData name="Alao, Toluwani I" userId="5a2783ac-4db0-4a69-b6bb-eb51845e9ade" providerId="ADAL" clId="{6E8F820F-DCCB-49FF-989D-BEE5C34A25CB}" dt="2026-04-29T02:50:20.611" v="38" actId="20577"/>
          <ac:spMkLst>
            <pc:docMk/>
            <pc:sldMk cId="59424050" sldId="298"/>
            <ac:spMk id="2" creationId="{CD57C525-306B-FAC1-E3C5-5F05A51767D7}"/>
          </ac:spMkLst>
        </pc:spChg>
        <pc:spChg chg="del mod">
          <ac:chgData name="Alao, Toluwani I" userId="5a2783ac-4db0-4a69-b6bb-eb51845e9ade" providerId="ADAL" clId="{6E8F820F-DCCB-49FF-989D-BEE5C34A25CB}" dt="2026-04-29T02:53:08.974" v="59" actId="478"/>
          <ac:spMkLst>
            <pc:docMk/>
            <pc:sldMk cId="59424050" sldId="298"/>
            <ac:spMk id="3" creationId="{3BFAB046-7464-C11D-82DC-9F317F2EFDE6}"/>
          </ac:spMkLst>
        </pc:spChg>
        <pc:spChg chg="add del mod">
          <ac:chgData name="Alao, Toluwani I" userId="5a2783ac-4db0-4a69-b6bb-eb51845e9ade" providerId="ADAL" clId="{6E8F820F-DCCB-49FF-989D-BEE5C34A25CB}" dt="2026-04-29T02:53:12.410" v="60" actId="478"/>
          <ac:spMkLst>
            <pc:docMk/>
            <pc:sldMk cId="59424050" sldId="298"/>
            <ac:spMk id="5" creationId="{6D3BCA4F-D2FE-C4B7-3599-CB10BAE515F5}"/>
          </ac:spMkLst>
        </pc:spChg>
        <pc:spChg chg="mod">
          <ac:chgData name="Alao, Toluwani I" userId="5a2783ac-4db0-4a69-b6bb-eb51845e9ade" providerId="ADAL" clId="{6E8F820F-DCCB-49FF-989D-BEE5C34A25CB}" dt="2026-04-29T02:53:14.767" v="61" actId="1076"/>
          <ac:spMkLst>
            <pc:docMk/>
            <pc:sldMk cId="59424050" sldId="298"/>
            <ac:spMk id="8" creationId="{3BC5B9B3-F0CC-195E-4253-43B8B196BD4B}"/>
          </ac:spMkLst>
        </pc:spChg>
        <pc:picChg chg="del">
          <ac:chgData name="Alao, Toluwani I" userId="5a2783ac-4db0-4a69-b6bb-eb51845e9ade" providerId="ADAL" clId="{6E8F820F-DCCB-49FF-989D-BEE5C34A25CB}" dt="2026-04-29T02:52:33.773" v="39" actId="478"/>
          <ac:picMkLst>
            <pc:docMk/>
            <pc:sldMk cId="59424050" sldId="298"/>
            <ac:picMk id="7" creationId="{95171729-BAAE-A253-394B-71B1E6DD657A}"/>
          </ac:picMkLst>
        </pc:picChg>
      </pc:sldChg>
      <pc:sldChg chg="modSp add mod">
        <pc:chgData name="Alao, Toluwani I" userId="5a2783ac-4db0-4a69-b6bb-eb51845e9ade" providerId="ADAL" clId="{6E8F820F-DCCB-49FF-989D-BEE5C34A25CB}" dt="2026-04-29T14:44:29.993" v="647" actId="20577"/>
        <pc:sldMkLst>
          <pc:docMk/>
          <pc:sldMk cId="2743679969" sldId="299"/>
        </pc:sldMkLst>
        <pc:spChg chg="mod">
          <ac:chgData name="Alao, Toluwani I" userId="5a2783ac-4db0-4a69-b6bb-eb51845e9ade" providerId="ADAL" clId="{6E8F820F-DCCB-49FF-989D-BEE5C34A25CB}" dt="2026-04-29T13:04:10.149" v="96" actId="20577"/>
          <ac:spMkLst>
            <pc:docMk/>
            <pc:sldMk cId="2743679969" sldId="299"/>
            <ac:spMk id="2" creationId="{E62E867F-6081-E78A-302F-8979BD6139BA}"/>
          </ac:spMkLst>
        </pc:spChg>
        <pc:spChg chg="mod">
          <ac:chgData name="Alao, Toluwani I" userId="5a2783ac-4db0-4a69-b6bb-eb51845e9ade" providerId="ADAL" clId="{6E8F820F-DCCB-49FF-989D-BEE5C34A25CB}" dt="2026-04-29T14:44:29.993" v="647" actId="20577"/>
          <ac:spMkLst>
            <pc:docMk/>
            <pc:sldMk cId="2743679969" sldId="299"/>
            <ac:spMk id="3" creationId="{240EB429-FA32-BD4D-FFB8-1CDD7DA6933E}"/>
          </ac:spMkLst>
        </pc:spChg>
      </pc:sldChg>
      <pc:sldChg chg="modSp add mod ord">
        <pc:chgData name="Alao, Toluwani I" userId="5a2783ac-4db0-4a69-b6bb-eb51845e9ade" providerId="ADAL" clId="{6E8F820F-DCCB-49FF-989D-BEE5C34A25CB}" dt="2026-04-29T13:12:04.485" v="500" actId="20577"/>
        <pc:sldMkLst>
          <pc:docMk/>
          <pc:sldMk cId="4053245159" sldId="300"/>
        </pc:sldMkLst>
        <pc:spChg chg="mod">
          <ac:chgData name="Alao, Toluwani I" userId="5a2783ac-4db0-4a69-b6bb-eb51845e9ade" providerId="ADAL" clId="{6E8F820F-DCCB-49FF-989D-BEE5C34A25CB}" dt="2026-04-29T13:08:56.943" v="459" actId="20577"/>
          <ac:spMkLst>
            <pc:docMk/>
            <pc:sldMk cId="4053245159" sldId="300"/>
            <ac:spMk id="2" creationId="{11FB0B74-61CC-9CF7-B4E6-86E84DB751C1}"/>
          </ac:spMkLst>
        </pc:spChg>
        <pc:spChg chg="mod">
          <ac:chgData name="Alao, Toluwani I" userId="5a2783ac-4db0-4a69-b6bb-eb51845e9ade" providerId="ADAL" clId="{6E8F820F-DCCB-49FF-989D-BEE5C34A25CB}" dt="2026-04-29T13:12:04.485" v="500" actId="20577"/>
          <ac:spMkLst>
            <pc:docMk/>
            <pc:sldMk cId="4053245159" sldId="300"/>
            <ac:spMk id="8" creationId="{E85AF798-CF52-0F95-3F6A-944FFC3161AE}"/>
          </ac:spMkLst>
        </pc:spChg>
      </pc:sldChg>
      <pc:sldChg chg="modSp add mod ord">
        <pc:chgData name="Alao, Toluwani I" userId="5a2783ac-4db0-4a69-b6bb-eb51845e9ade" providerId="ADAL" clId="{6E8F820F-DCCB-49FF-989D-BEE5C34A25CB}" dt="2026-04-29T13:13:47.543" v="550" actId="20577"/>
        <pc:sldMkLst>
          <pc:docMk/>
          <pc:sldMk cId="333119061" sldId="301"/>
        </pc:sldMkLst>
        <pc:spChg chg="mod">
          <ac:chgData name="Alao, Toluwani I" userId="5a2783ac-4db0-4a69-b6bb-eb51845e9ade" providerId="ADAL" clId="{6E8F820F-DCCB-49FF-989D-BEE5C34A25CB}" dt="2026-04-29T13:13:47.543" v="550" actId="20577"/>
          <ac:spMkLst>
            <pc:docMk/>
            <pc:sldMk cId="333119061" sldId="301"/>
            <ac:spMk id="8" creationId="{BA4E0F1F-8974-D33B-7B95-10C424050095}"/>
          </ac:spMkLst>
        </pc:spChg>
      </pc:sldChg>
      <pc:sldChg chg="new del">
        <pc:chgData name="Alao, Toluwani I" userId="5a2783ac-4db0-4a69-b6bb-eb51845e9ade" providerId="ADAL" clId="{6E8F820F-DCCB-49FF-989D-BEE5C34A25CB}" dt="2026-04-29T13:12:36.914" v="502" actId="47"/>
        <pc:sldMkLst>
          <pc:docMk/>
          <pc:sldMk cId="2193585513" sldId="301"/>
        </pc:sldMkLst>
      </pc:sldChg>
    </pc:docChg>
  </pc:docChgLst>
  <pc:docChgLst>
    <pc:chgData name="Shikder, Safwan" userId="d944c3db-4aab-4109-950c-9a5070ca336e" providerId="ADAL" clId="{81C766D4-9DE5-442E-8A13-7BBDCF616EAC}"/>
    <pc:docChg chg="modSld">
      <pc:chgData name="Shikder, Safwan" userId="d944c3db-4aab-4109-950c-9a5070ca336e" providerId="ADAL" clId="{81C766D4-9DE5-442E-8A13-7BBDCF616EAC}" dt="2026-04-29T14:16:16.508" v="8" actId="255"/>
      <pc:docMkLst>
        <pc:docMk/>
      </pc:docMkLst>
      <pc:sldChg chg="modNotesTx">
        <pc:chgData name="Shikder, Safwan" userId="d944c3db-4aab-4109-950c-9a5070ca336e" providerId="ADAL" clId="{81C766D4-9DE5-442E-8A13-7BBDCF616EAC}" dt="2026-04-29T14:03:10.175" v="1" actId="20577"/>
        <pc:sldMkLst>
          <pc:docMk/>
          <pc:sldMk cId="3131651149" sldId="279"/>
        </pc:sldMkLst>
      </pc:sldChg>
      <pc:sldChg chg="modNotesTx">
        <pc:chgData name="Shikder, Safwan" userId="d944c3db-4aab-4109-950c-9a5070ca336e" providerId="ADAL" clId="{81C766D4-9DE5-442E-8A13-7BBDCF616EAC}" dt="2026-04-29T14:03:16.461" v="3" actId="20577"/>
        <pc:sldMkLst>
          <pc:docMk/>
          <pc:sldMk cId="329461019" sldId="281"/>
        </pc:sldMkLst>
      </pc:sldChg>
      <pc:sldChg chg="modNotesTx">
        <pc:chgData name="Shikder, Safwan" userId="d944c3db-4aab-4109-950c-9a5070ca336e" providerId="ADAL" clId="{81C766D4-9DE5-442E-8A13-7BBDCF616EAC}" dt="2026-04-29T14:03:25.716" v="5" actId="20577"/>
        <pc:sldMkLst>
          <pc:docMk/>
          <pc:sldMk cId="669956522" sldId="289"/>
        </pc:sldMkLst>
      </pc:sldChg>
      <pc:sldChg chg="modNotesTx">
        <pc:chgData name="Shikder, Safwan" userId="d944c3db-4aab-4109-950c-9a5070ca336e" providerId="ADAL" clId="{81C766D4-9DE5-442E-8A13-7BBDCF616EAC}" dt="2026-04-29T14:16:16.508" v="8" actId="255"/>
        <pc:sldMkLst>
          <pc:docMk/>
          <pc:sldMk cId="1490338384" sldId="290"/>
        </pc:sldMkLst>
      </pc:sldChg>
      <pc:sldChg chg="modNotesTx">
        <pc:chgData name="Shikder, Safwan" userId="d944c3db-4aab-4109-950c-9a5070ca336e" providerId="ADAL" clId="{81C766D4-9DE5-442E-8A13-7BBDCF616EAC}" dt="2026-04-29T14:03:30.432" v="6" actId="20577"/>
        <pc:sldMkLst>
          <pc:docMk/>
          <pc:sldMk cId="3390145517" sldId="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F131B0-7B1E-488F-9E35-F4A083E47030}"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5B43D9-E35D-4DC8-9753-213FB76BCA6C}" type="slidenum">
              <a:rPr lang="en-US" smtClean="0"/>
              <a:t>‹#›</a:t>
            </a:fld>
            <a:endParaRPr lang="en-US"/>
          </a:p>
        </p:txBody>
      </p:sp>
    </p:spTree>
    <p:extLst>
      <p:ext uri="{BB962C8B-B14F-4D97-AF65-F5344CB8AC3E}">
        <p14:creationId xmlns:p14="http://schemas.microsoft.com/office/powerpoint/2010/main" val="3434651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a:t>The Goal:</a:t>
            </a:r>
            <a:r>
              <a:rPr lang="en-US" sz="1200"/>
              <a:t> Explain the bottleneck in your dataset and how you programmatically solved it.</a:t>
            </a:r>
          </a:p>
          <a:p>
            <a:r>
              <a:rPr lang="en-US" sz="1200"/>
              <a:t>"Moving into our data architecture, we immediately ran into a significant class imbalance. While we had about 1,000 human-made tracks from the GTZAN dataset , our AI-generated dataset from Suno and </a:t>
            </a:r>
            <a:r>
              <a:rPr lang="en-US" sz="1200" err="1"/>
              <a:t>Udio</a:t>
            </a:r>
            <a:r>
              <a:rPr lang="en-US" sz="1200"/>
              <a:t> was limited to around 160 files. If we trained on this directly, the model would inherently bias toward predicting human audio. To fix this, we implemented a </a:t>
            </a:r>
            <a:r>
              <a:rPr lang="en-US" sz="1200" kern="1200" err="1">
                <a:solidFill>
                  <a:schemeClr val="tx1"/>
                </a:solidFill>
                <a:latin typeface="+mn-lt"/>
                <a:ea typeface="+mn-ea"/>
                <a:cs typeface="+mn-cs"/>
              </a:rPr>
              <a:t>WeightedRandomSampler</a:t>
            </a:r>
            <a:r>
              <a:rPr lang="en-US" sz="1200"/>
              <a:t> in </a:t>
            </a:r>
            <a:r>
              <a:rPr lang="en-US" sz="1200" err="1"/>
              <a:t>PyTorch</a:t>
            </a:r>
            <a:r>
              <a:rPr lang="en-US" sz="1200"/>
              <a:t>, heavily weighting the AI samples to artificially balance the dataset during the training phase."</a:t>
            </a:r>
          </a:p>
          <a:p>
            <a:endParaRPr lang="en-US" sz="1200"/>
          </a:p>
        </p:txBody>
      </p:sp>
      <p:sp>
        <p:nvSpPr>
          <p:cNvPr id="4" name="Slide Number Placeholder 3"/>
          <p:cNvSpPr>
            <a:spLocks noGrp="1"/>
          </p:cNvSpPr>
          <p:nvPr>
            <p:ph type="sldNum" sz="quarter" idx="5"/>
          </p:nvPr>
        </p:nvSpPr>
        <p:spPr/>
        <p:txBody>
          <a:bodyPr/>
          <a:lstStyle/>
          <a:p>
            <a:fld id="{545B43D9-E35D-4DC8-9753-213FB76BCA6C}" type="slidenum">
              <a:rPr lang="en-US" smtClean="0"/>
              <a:t>4</a:t>
            </a:fld>
            <a:endParaRPr lang="en-US"/>
          </a:p>
        </p:txBody>
      </p:sp>
    </p:spTree>
    <p:extLst>
      <p:ext uri="{BB962C8B-B14F-4D97-AF65-F5344CB8AC3E}">
        <p14:creationId xmlns:p14="http://schemas.microsoft.com/office/powerpoint/2010/main" val="445359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Goal:</a:t>
            </a:r>
            <a:r>
              <a:rPr lang="en-US"/>
              <a:t> Be transparent about the initial failure. It highlights your troubleshooting process.</a:t>
            </a:r>
          </a:p>
          <a:p>
            <a:r>
              <a:rPr lang="en-US"/>
              <a:t>"Despite balancing the data, our initial testing was completely broken. While the model was outputting correct genres, it was predicting 100% AI for every single input track we gave it. We stepped back and started root-cause debugging, uncovering issues ranging from silent audio inputs caused by </a:t>
            </a:r>
            <a:r>
              <a:rPr lang="en-US" err="1"/>
              <a:t>FFmpeg</a:t>
            </a:r>
            <a:r>
              <a:rPr lang="en-US"/>
              <a:t> to deeper architecture mismatches. By switching to a hybrid approach, we managed to push the results from 100% AI to a 75% Human and 25% AI split on real songs, which was a partial, but meaningful step in the right direction."</a:t>
            </a:r>
          </a:p>
          <a:p>
            <a:endParaRPr lang="en-US"/>
          </a:p>
        </p:txBody>
      </p:sp>
      <p:sp>
        <p:nvSpPr>
          <p:cNvPr id="4" name="Slide Number Placeholder 3"/>
          <p:cNvSpPr>
            <a:spLocks noGrp="1"/>
          </p:cNvSpPr>
          <p:nvPr>
            <p:ph type="sldNum" sz="quarter" idx="5"/>
          </p:nvPr>
        </p:nvSpPr>
        <p:spPr/>
        <p:txBody>
          <a:bodyPr/>
          <a:lstStyle/>
          <a:p>
            <a:fld id="{545B43D9-E35D-4DC8-9753-213FB76BCA6C}" type="slidenum">
              <a:rPr lang="en-US" smtClean="0"/>
              <a:t>5</a:t>
            </a:fld>
            <a:endParaRPr lang="en-US"/>
          </a:p>
        </p:txBody>
      </p:sp>
    </p:spTree>
    <p:extLst>
      <p:ext uri="{BB962C8B-B14F-4D97-AF65-F5344CB8AC3E}">
        <p14:creationId xmlns:p14="http://schemas.microsoft.com/office/powerpoint/2010/main" val="1727133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Goal:</a:t>
            </a:r>
            <a:r>
              <a:rPr lang="en-US"/>
              <a:t> Briefly establish the two-pronged nature of the system before diving into the deep failure analysis.</a:t>
            </a:r>
          </a:p>
          <a:p>
            <a:r>
              <a:rPr lang="en-US"/>
              <a:t>"This slide visualizes the dual-intelligence pipeline we were aiming for. Step 1 handles the Musical Genre classification—sorting into categories like blues, rock, country, and classical. Step 2 runs in parallel as a Forensic Authenticity check, which outputs the final confidence scores for whether the track is Human or AI." </a:t>
            </a:r>
          </a:p>
          <a:p>
            <a:endParaRPr lang="en-US"/>
          </a:p>
        </p:txBody>
      </p:sp>
      <p:sp>
        <p:nvSpPr>
          <p:cNvPr id="4" name="Slide Number Placeholder 3"/>
          <p:cNvSpPr>
            <a:spLocks noGrp="1"/>
          </p:cNvSpPr>
          <p:nvPr>
            <p:ph type="sldNum" sz="quarter" idx="5"/>
          </p:nvPr>
        </p:nvSpPr>
        <p:spPr/>
        <p:txBody>
          <a:bodyPr/>
          <a:lstStyle/>
          <a:p>
            <a:fld id="{545B43D9-E35D-4DC8-9753-213FB76BCA6C}" type="slidenum">
              <a:rPr lang="en-US" smtClean="0"/>
              <a:t>6</a:t>
            </a:fld>
            <a:endParaRPr lang="en-US"/>
          </a:p>
        </p:txBody>
      </p:sp>
    </p:spTree>
    <p:extLst>
      <p:ext uri="{BB962C8B-B14F-4D97-AF65-F5344CB8AC3E}">
        <p14:creationId xmlns:p14="http://schemas.microsoft.com/office/powerpoint/2010/main" val="4133812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Goal:</a:t>
            </a:r>
            <a:r>
              <a:rPr lang="en-US"/>
              <a:t> Dive into the technical meat of </a:t>
            </a:r>
            <a:r>
              <a:rPr lang="en-US" i="1"/>
              <a:t>why</a:t>
            </a:r>
            <a:r>
              <a:rPr lang="en-US"/>
              <a:t> the initial runs failed.</a:t>
            </a:r>
          </a:p>
          <a:p>
            <a:r>
              <a:rPr lang="en-US"/>
              <a:t>"When we audited the misclassifications, the errors were happening at extremely high confidence levels. For example, AI Hip-Hop was being flagged as Classical with 97% confidence , and actual Human tracks were being flagged as AI with over 95% confidence. We traced this back to a massive pipeline mismatch between our training and inference environments. We were applying double normalization, our heuristic overrides were interfering with the raw outputs, and we were only analyzing the first 30 seconds of a track. Essentially, because of these preprocessing bugs, the model was learning completely wrong signals."</a:t>
            </a:r>
          </a:p>
          <a:p>
            <a:endParaRPr lang="en-US"/>
          </a:p>
        </p:txBody>
      </p:sp>
      <p:sp>
        <p:nvSpPr>
          <p:cNvPr id="4" name="Slide Number Placeholder 3"/>
          <p:cNvSpPr>
            <a:spLocks noGrp="1"/>
          </p:cNvSpPr>
          <p:nvPr>
            <p:ph type="sldNum" sz="quarter" idx="5"/>
          </p:nvPr>
        </p:nvSpPr>
        <p:spPr/>
        <p:txBody>
          <a:bodyPr/>
          <a:lstStyle/>
          <a:p>
            <a:fld id="{545B43D9-E35D-4DC8-9753-213FB76BCA6C}" type="slidenum">
              <a:rPr lang="en-US" smtClean="0"/>
              <a:t>7</a:t>
            </a:fld>
            <a:endParaRPr lang="en-US"/>
          </a:p>
        </p:txBody>
      </p:sp>
    </p:spTree>
    <p:extLst>
      <p:ext uri="{BB962C8B-B14F-4D97-AF65-F5344CB8AC3E}">
        <p14:creationId xmlns:p14="http://schemas.microsoft.com/office/powerpoint/2010/main" val="2882826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Goal:</a:t>
            </a:r>
            <a:r>
              <a:rPr lang="en-US"/>
              <a:t> Present the clean resolution and the final metrics that prove your fix worked.</a:t>
            </a:r>
          </a:p>
          <a:p>
            <a:r>
              <a:rPr lang="en-US"/>
              <a:t>"To solve this, we completely rebuilt the pipeline to ensure inference matched training perfectly. We fixed the normalization logic, stripped out all the heuristic overrides, trained exclusively on raw audio, and shifted to a full-track multi-window analysis. The result was a totally clean separation. Human tracks reliably score between 0.00 and 0.20, while AI-generated tracks consistently score between 0.40 and 1.00." </a:t>
            </a:r>
          </a:p>
          <a:p>
            <a:endParaRPr lang="en-US"/>
          </a:p>
        </p:txBody>
      </p:sp>
      <p:sp>
        <p:nvSpPr>
          <p:cNvPr id="4" name="Slide Number Placeholder 3"/>
          <p:cNvSpPr>
            <a:spLocks noGrp="1"/>
          </p:cNvSpPr>
          <p:nvPr>
            <p:ph type="sldNum" sz="quarter" idx="5"/>
          </p:nvPr>
        </p:nvSpPr>
        <p:spPr/>
        <p:txBody>
          <a:bodyPr/>
          <a:lstStyle/>
          <a:p>
            <a:fld id="{545B43D9-E35D-4DC8-9753-213FB76BCA6C}" type="slidenum">
              <a:rPr lang="en-US" smtClean="0"/>
              <a:t>8</a:t>
            </a:fld>
            <a:endParaRPr lang="en-US"/>
          </a:p>
        </p:txBody>
      </p:sp>
    </p:spTree>
    <p:extLst>
      <p:ext uri="{BB962C8B-B14F-4D97-AF65-F5344CB8AC3E}">
        <p14:creationId xmlns:p14="http://schemas.microsoft.com/office/powerpoint/2010/main" val="206940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252D3020-470E-AF4A-8C72-FA648C0A28CB}" type="datetimeFigureOut">
              <a:rPr lang="en-US" smtClean="0"/>
              <a:t>4/29/2026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352532C0-165C-1C42-8924-6C8FE62C9FD7}"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63678605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2D3020-470E-AF4A-8C72-FA648C0A28C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3446030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2D3020-470E-AF4A-8C72-FA648C0A28C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532C0-165C-1C42-8924-6C8FE62C9FD7}"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41617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52D3020-470E-AF4A-8C72-FA648C0A28CB}"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2556857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52D3020-470E-AF4A-8C72-FA648C0A28CB}"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4004159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52D3020-470E-AF4A-8C72-FA648C0A28CB}"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1089607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2D3020-470E-AF4A-8C72-FA648C0A28CB}"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3253983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2D3020-470E-AF4A-8C72-FA648C0A28CB}"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3665463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2D3020-470E-AF4A-8C72-FA648C0A28CB}"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2947241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2D3020-470E-AF4A-8C72-FA648C0A28C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2898552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2D3020-470E-AF4A-8C72-FA648C0A28CB}"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4094758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252D3020-470E-AF4A-8C72-FA648C0A28CB}" type="datetimeFigureOut">
              <a:rPr lang="en-US" smtClean="0"/>
              <a:t>4/29/2026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352532C0-165C-1C42-8924-6C8FE62C9FD7}" type="slidenum">
              <a:rPr lang="en-US" smtClean="0"/>
              <a:t>‹#›</a:t>
            </a:fld>
            <a:endParaRPr lang="en-US"/>
          </a:p>
        </p:txBody>
      </p:sp>
    </p:spTree>
    <p:extLst>
      <p:ext uri="{BB962C8B-B14F-4D97-AF65-F5344CB8AC3E}">
        <p14:creationId xmlns:p14="http://schemas.microsoft.com/office/powerpoint/2010/main" val="386795312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D92B3-C643-F9BE-D052-2F6D9165F90D}"/>
              </a:ext>
            </a:extLst>
          </p:cNvPr>
          <p:cNvSpPr>
            <a:spLocks noGrp="1"/>
          </p:cNvSpPr>
          <p:nvPr>
            <p:ph type="ctrTitle"/>
          </p:nvPr>
        </p:nvSpPr>
        <p:spPr/>
        <p:txBody>
          <a:bodyPr>
            <a:normAutofit/>
          </a:bodyPr>
          <a:lstStyle/>
          <a:p>
            <a:r>
              <a:rPr lang="en-US">
                <a:solidFill>
                  <a:srgbClr val="FFFFFF"/>
                </a:solidFill>
                <a:latin typeface="Century Schoolbook"/>
              </a:rPr>
              <a:t>Music Genre Classification</a:t>
            </a:r>
            <a:endParaRPr lang="en-US"/>
          </a:p>
        </p:txBody>
      </p:sp>
      <p:sp>
        <p:nvSpPr>
          <p:cNvPr id="3" name="Subtitle 2">
            <a:extLst>
              <a:ext uri="{FF2B5EF4-FFF2-40B4-BE49-F238E27FC236}">
                <a16:creationId xmlns:a16="http://schemas.microsoft.com/office/drawing/2014/main" id="{F8B9B549-6123-A06C-E8D3-81F8D65DC896}"/>
              </a:ext>
            </a:extLst>
          </p:cNvPr>
          <p:cNvSpPr>
            <a:spLocks noGrp="1"/>
          </p:cNvSpPr>
          <p:nvPr>
            <p:ph type="subTitle" idx="1"/>
          </p:nvPr>
        </p:nvSpPr>
        <p:spPr/>
        <p:txBody>
          <a:bodyPr/>
          <a:lstStyle/>
          <a:p>
            <a:r>
              <a:rPr lang="en-US"/>
              <a:t>Toluwani, Finn, Safwan</a:t>
            </a:r>
          </a:p>
        </p:txBody>
      </p:sp>
    </p:spTree>
    <p:extLst>
      <p:ext uri="{BB962C8B-B14F-4D97-AF65-F5344CB8AC3E}">
        <p14:creationId xmlns:p14="http://schemas.microsoft.com/office/powerpoint/2010/main" val="211020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FA44-C9CF-B441-0443-B34341CC9E83}"/>
              </a:ext>
            </a:extLst>
          </p:cNvPr>
          <p:cNvSpPr>
            <a:spLocks noGrp="1"/>
          </p:cNvSpPr>
          <p:nvPr>
            <p:ph type="title"/>
          </p:nvPr>
        </p:nvSpPr>
        <p:spPr>
          <a:xfrm>
            <a:off x="803380" y="152658"/>
            <a:ext cx="9692640" cy="1325562"/>
          </a:xfrm>
        </p:spPr>
        <p:txBody>
          <a:bodyPr/>
          <a:lstStyle/>
          <a:p>
            <a:r>
              <a:rPr lang="en-US"/>
              <a:t>Intro</a:t>
            </a:r>
          </a:p>
        </p:txBody>
      </p:sp>
      <p:pic>
        <p:nvPicPr>
          <p:cNvPr id="4" name="Picture 3" descr="File:Spotify logo without text.svg - Wikimedia Commons">
            <a:extLst>
              <a:ext uri="{FF2B5EF4-FFF2-40B4-BE49-F238E27FC236}">
                <a16:creationId xmlns:a16="http://schemas.microsoft.com/office/drawing/2014/main" id="{8DBFCBD5-3F60-84CE-90B0-6BD2EA6E6FFC}"/>
              </a:ext>
            </a:extLst>
          </p:cNvPr>
          <p:cNvPicPr>
            <a:picLocks noChangeAspect="1"/>
          </p:cNvPicPr>
          <p:nvPr/>
        </p:nvPicPr>
        <p:blipFill>
          <a:blip r:embed="rId2"/>
          <a:stretch>
            <a:fillRect/>
          </a:stretch>
        </p:blipFill>
        <p:spPr>
          <a:xfrm>
            <a:off x="10046335" y="368935"/>
            <a:ext cx="908050" cy="897890"/>
          </a:xfrm>
          <a:prstGeom prst="rect">
            <a:avLst/>
          </a:prstGeom>
        </p:spPr>
      </p:pic>
      <p:pic>
        <p:nvPicPr>
          <p:cNvPr id="5" name="Picture 4" descr="File:Apple Music icon.svg - Wikimedia Commons">
            <a:extLst>
              <a:ext uri="{FF2B5EF4-FFF2-40B4-BE49-F238E27FC236}">
                <a16:creationId xmlns:a16="http://schemas.microsoft.com/office/drawing/2014/main" id="{2F878E98-7B01-16D0-7306-D25C743767F5}"/>
              </a:ext>
            </a:extLst>
          </p:cNvPr>
          <p:cNvPicPr>
            <a:picLocks noChangeAspect="1"/>
          </p:cNvPicPr>
          <p:nvPr/>
        </p:nvPicPr>
        <p:blipFill>
          <a:blip r:embed="rId3"/>
          <a:stretch>
            <a:fillRect/>
          </a:stretch>
        </p:blipFill>
        <p:spPr>
          <a:xfrm>
            <a:off x="8827861" y="392158"/>
            <a:ext cx="918210" cy="867410"/>
          </a:xfrm>
          <a:prstGeom prst="rect">
            <a:avLst/>
          </a:prstGeom>
        </p:spPr>
      </p:pic>
      <p:pic>
        <p:nvPicPr>
          <p:cNvPr id="6" name="Picture 5" descr="File:Pandora radio logo.png - Wikimedia Commons">
            <a:extLst>
              <a:ext uri="{FF2B5EF4-FFF2-40B4-BE49-F238E27FC236}">
                <a16:creationId xmlns:a16="http://schemas.microsoft.com/office/drawing/2014/main" id="{CC22A77F-DB96-B8D4-6528-43E239EEB103}"/>
              </a:ext>
            </a:extLst>
          </p:cNvPr>
          <p:cNvPicPr>
            <a:picLocks noChangeAspect="1"/>
          </p:cNvPicPr>
          <p:nvPr/>
        </p:nvPicPr>
        <p:blipFill>
          <a:blip r:embed="rId4"/>
          <a:stretch>
            <a:fillRect/>
          </a:stretch>
        </p:blipFill>
        <p:spPr>
          <a:xfrm>
            <a:off x="7495694" y="345440"/>
            <a:ext cx="1026160" cy="955040"/>
          </a:xfrm>
          <a:prstGeom prst="rect">
            <a:avLst/>
          </a:prstGeom>
        </p:spPr>
      </p:pic>
      <p:sp>
        <p:nvSpPr>
          <p:cNvPr id="9" name="Content Placeholder 2">
            <a:extLst>
              <a:ext uri="{FF2B5EF4-FFF2-40B4-BE49-F238E27FC236}">
                <a16:creationId xmlns:a16="http://schemas.microsoft.com/office/drawing/2014/main" id="{160BC898-80C5-4CD7-7948-B6B64F359DFE}"/>
              </a:ext>
            </a:extLst>
          </p:cNvPr>
          <p:cNvSpPr>
            <a:spLocks noGrp="1"/>
          </p:cNvSpPr>
          <p:nvPr/>
        </p:nvSpPr>
        <p:spPr>
          <a:xfrm>
            <a:off x="794512" y="1950720"/>
            <a:ext cx="8595360" cy="4351337"/>
          </a:xfrm>
          <a:prstGeom prst="rect">
            <a:avLst/>
          </a:prstGeom>
        </p:spPr>
        <p:txBody>
          <a:bodyPr vert="horz" lIns="91440" tIns="45720" rIns="91440" bIns="45720" rtlCol="0" anchor="t">
            <a:normAutofit fontScale="85000" lnSpcReduction="20000"/>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a:t>Using the GTZAN Genre Collection.</a:t>
            </a:r>
          </a:p>
          <a:p>
            <a:r>
              <a:rPr lang="en-US" sz="2400"/>
              <a:t>10 genres (Blues, Classical, Country, Disco, Hip-hop, Jazz, Metal, Pop, Reggae, Rock), with 100 tracks per genre.</a:t>
            </a:r>
          </a:p>
          <a:p>
            <a:endParaRPr lang="en-US" sz="2400"/>
          </a:p>
          <a:p>
            <a:pPr marL="0" indent="0">
              <a:buNone/>
            </a:pPr>
            <a:r>
              <a:rPr lang="en-US" sz="2400" b="1"/>
              <a:t>ML Models</a:t>
            </a:r>
          </a:p>
          <a:p>
            <a:r>
              <a:rPr lang="en-US" sz="2400" u="sng"/>
              <a:t>Librosa</a:t>
            </a:r>
          </a:p>
          <a:p>
            <a:r>
              <a:rPr lang="en-US" sz="2000"/>
              <a:t>Traditional signal processing approach</a:t>
            </a:r>
          </a:p>
          <a:p>
            <a:r>
              <a:rPr lang="en-US" sz="2400" u="sng"/>
              <a:t>Image based</a:t>
            </a:r>
          </a:p>
          <a:p>
            <a:pPr marL="342900" indent="-342900"/>
            <a:r>
              <a:rPr lang="en-US" sz="2000"/>
              <a:t>Convert the audio clips into spectrograms and train neural network to classify the genre using sound patterns</a:t>
            </a:r>
          </a:p>
          <a:p>
            <a:pPr marL="342900" indent="-342900"/>
            <a:r>
              <a:rPr lang="en-US" sz="2000"/>
              <a:t>Modern deep learning approach</a:t>
            </a:r>
            <a:endParaRPr lang="en-US"/>
          </a:p>
        </p:txBody>
      </p:sp>
    </p:spTree>
    <p:extLst>
      <p:ext uri="{BB962C8B-B14F-4D97-AF65-F5344CB8AC3E}">
        <p14:creationId xmlns:p14="http://schemas.microsoft.com/office/powerpoint/2010/main" val="1780566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EA6AE-95FE-ACB0-04EB-175D3DAEE17C}"/>
              </a:ext>
            </a:extLst>
          </p:cNvPr>
          <p:cNvSpPr>
            <a:spLocks noGrp="1"/>
          </p:cNvSpPr>
          <p:nvPr>
            <p:ph type="title"/>
          </p:nvPr>
        </p:nvSpPr>
        <p:spPr>
          <a:xfrm>
            <a:off x="322278" y="-729787"/>
            <a:ext cx="9692640" cy="1325562"/>
          </a:xfrm>
        </p:spPr>
        <p:txBody>
          <a:bodyPr>
            <a:normAutofit/>
          </a:bodyPr>
          <a:lstStyle/>
          <a:p>
            <a:r>
              <a:rPr lang="en-US" sz="4000"/>
              <a:t>Milestones</a:t>
            </a:r>
          </a:p>
        </p:txBody>
      </p:sp>
      <p:graphicFrame>
        <p:nvGraphicFramePr>
          <p:cNvPr id="4" name="Content Placeholder 3">
            <a:extLst>
              <a:ext uri="{FF2B5EF4-FFF2-40B4-BE49-F238E27FC236}">
                <a16:creationId xmlns:a16="http://schemas.microsoft.com/office/drawing/2014/main" id="{D3A3B3FC-4B64-F7C5-55F0-71615504636C}"/>
              </a:ext>
            </a:extLst>
          </p:cNvPr>
          <p:cNvGraphicFramePr>
            <a:graphicFrameLocks noGrp="1"/>
          </p:cNvGraphicFramePr>
          <p:nvPr>
            <p:ph idx="1"/>
            <p:extLst>
              <p:ext uri="{D42A27DB-BD31-4B8C-83A1-F6EECF244321}">
                <p14:modId xmlns:p14="http://schemas.microsoft.com/office/powerpoint/2010/main" val="387205091"/>
              </p:ext>
            </p:extLst>
          </p:nvPr>
        </p:nvGraphicFramePr>
        <p:xfrm>
          <a:off x="322278" y="595775"/>
          <a:ext cx="10414884" cy="6178898"/>
        </p:xfrm>
        <a:graphic>
          <a:graphicData uri="http://schemas.openxmlformats.org/drawingml/2006/table">
            <a:tbl>
              <a:tblPr firstRow="1" bandRow="1">
                <a:tableStyleId>{616DA210-FB5B-4158-B5E0-FEB733F419BA}</a:tableStyleId>
              </a:tblPr>
              <a:tblGrid>
                <a:gridCol w="5207442">
                  <a:extLst>
                    <a:ext uri="{9D8B030D-6E8A-4147-A177-3AD203B41FA5}">
                      <a16:colId xmlns:a16="http://schemas.microsoft.com/office/drawing/2014/main" val="4199689738"/>
                    </a:ext>
                  </a:extLst>
                </a:gridCol>
                <a:gridCol w="5207442">
                  <a:extLst>
                    <a:ext uri="{9D8B030D-6E8A-4147-A177-3AD203B41FA5}">
                      <a16:colId xmlns:a16="http://schemas.microsoft.com/office/drawing/2014/main" val="1808980104"/>
                    </a:ext>
                  </a:extLst>
                </a:gridCol>
              </a:tblGrid>
              <a:tr h="11063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Milestone 1: Data Architecture &amp; Preprocessing</a:t>
                      </a:r>
                    </a:p>
                  </a:txBody>
                  <a:tcPr/>
                </a:tc>
                <a:tc>
                  <a:txBody>
                    <a:bodyPr/>
                    <a:lstStyle/>
                    <a:p>
                      <a:r>
                        <a:rPr lang="en-US" sz="1600" b="0">
                          <a:solidFill>
                            <a:schemeClr val="tx1"/>
                          </a:solidFill>
                        </a:rPr>
                        <a:t>Validate 1,000 GTZAN tracks; handle corrupted </a:t>
                      </a:r>
                      <a:r>
                        <a:rPr lang="en-US" sz="1600" b="0" kern="1200">
                          <a:solidFill>
                            <a:schemeClr val="tx1"/>
                          </a:solidFill>
                        </a:rPr>
                        <a:t>.au</a:t>
                      </a:r>
                      <a:r>
                        <a:rPr lang="en-US" sz="1600" b="0">
                          <a:solidFill>
                            <a:schemeClr val="tx1"/>
                          </a:solidFill>
                        </a:rPr>
                        <a:t> files (e.g., </a:t>
                      </a:r>
                      <a:r>
                        <a:rPr lang="en-US" sz="1600" b="0" kern="1200">
                          <a:solidFill>
                            <a:schemeClr val="tx1"/>
                          </a:solidFill>
                        </a:rPr>
                        <a:t>jazz.00054</a:t>
                      </a:r>
                      <a:r>
                        <a:rPr lang="en-US" sz="1600" b="0">
                          <a:solidFill>
                            <a:schemeClr val="tx1"/>
                          </a:solidFill>
                        </a:rPr>
                        <a:t>). Implement a stratified 70/15/15 split to ensure genre balance across training and testing.</a:t>
                      </a:r>
                    </a:p>
                  </a:txBody>
                  <a:tcPr/>
                </a:tc>
                <a:extLst>
                  <a:ext uri="{0D108BD9-81ED-4DB2-BD59-A6C34878D82A}">
                    <a16:rowId xmlns:a16="http://schemas.microsoft.com/office/drawing/2014/main" val="4052212306"/>
                  </a:ext>
                </a:extLst>
              </a:tr>
              <a:tr h="13616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Milestone 2: Multi-Dimensional Feature Engineering</a:t>
                      </a:r>
                    </a:p>
                  </a:txBody>
                  <a:tcPr/>
                </a:tc>
                <a:tc>
                  <a:txBody>
                    <a:bodyPr/>
                    <a:lstStyle/>
                    <a:p>
                      <a:r>
                        <a:rPr lang="en-US" sz="1600"/>
                        <a:t>Extract acoustic "fingerprints" using </a:t>
                      </a:r>
                      <a:r>
                        <a:rPr lang="en-US" sz="1600" kern="1200" err="1">
                          <a:solidFill>
                            <a:schemeClr val="dk1"/>
                          </a:solidFill>
                        </a:rPr>
                        <a:t>Librosa</a:t>
                      </a:r>
                      <a:r>
                        <a:rPr lang="en-US" sz="1600"/>
                        <a:t>. Key metrics: MFCCs (timbre), Spectral Centroid (brightness), Chroma (harmony), and RMS Energy (amplitude). Export to structured CSV.</a:t>
                      </a:r>
                    </a:p>
                  </a:txBody>
                  <a:tcPr/>
                </a:tc>
                <a:extLst>
                  <a:ext uri="{0D108BD9-81ED-4DB2-BD59-A6C34878D82A}">
                    <a16:rowId xmlns:a16="http://schemas.microsoft.com/office/drawing/2014/main" val="2022158367"/>
                  </a:ext>
                </a:extLst>
              </a:tr>
              <a:tr h="13616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Milestone 3: Traditional ML &amp; Baseline Performance</a:t>
                      </a:r>
                    </a:p>
                  </a:txBody>
                  <a:tcPr/>
                </a:tc>
                <a:tc>
                  <a:txBody>
                    <a:bodyPr/>
                    <a:lstStyle/>
                    <a:p>
                      <a:r>
                        <a:rPr lang="en-US" sz="1600"/>
                        <a:t>Benchmark classification using Random Forest and SVM. Apply </a:t>
                      </a:r>
                      <a:r>
                        <a:rPr lang="en-US" sz="1600" kern="1200" err="1">
                          <a:solidFill>
                            <a:schemeClr val="dk1"/>
                          </a:solidFill>
                        </a:rPr>
                        <a:t>StandardScaler</a:t>
                      </a:r>
                      <a:r>
                        <a:rPr lang="en-US" sz="1600"/>
                        <a:t> for normalization. Evaluate via Confusion Matrices to identify "style-overlap" (e.g., Rock vs. Metal).</a:t>
                      </a:r>
                    </a:p>
                  </a:txBody>
                  <a:tcPr/>
                </a:tc>
                <a:extLst>
                  <a:ext uri="{0D108BD9-81ED-4DB2-BD59-A6C34878D82A}">
                    <a16:rowId xmlns:a16="http://schemas.microsoft.com/office/drawing/2014/main" val="501881027"/>
                  </a:ext>
                </a:extLst>
              </a:tr>
              <a:tr h="11063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Milestone 4: Deep Learning &amp; Neural Architectures</a:t>
                      </a:r>
                    </a:p>
                  </a:txBody>
                  <a:tcPr/>
                </a:tc>
                <a:tc>
                  <a:txBody>
                    <a:bodyPr/>
                    <a:lstStyle/>
                    <a:p>
                      <a:r>
                        <a:rPr lang="en-US" sz="1600"/>
                        <a:t>Convert audio to Mel-Spectrograms (image-based sound). Train a Convolutional Neural Network (CNN) to "see" musical patterns, leveraging computer vision for higher accuracy.</a:t>
                      </a:r>
                    </a:p>
                  </a:txBody>
                  <a:tcPr/>
                </a:tc>
                <a:extLst>
                  <a:ext uri="{0D108BD9-81ED-4DB2-BD59-A6C34878D82A}">
                    <a16:rowId xmlns:a16="http://schemas.microsoft.com/office/drawing/2014/main" val="332906851"/>
                  </a:ext>
                </a:extLst>
              </a:tr>
              <a:tr h="12427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Milestone 5: AI vs. Human Discriminator</a:t>
                      </a:r>
                    </a:p>
                    <a:p>
                      <a:endParaRPr lang="en-US"/>
                    </a:p>
                  </a:txBody>
                  <a:tcPr/>
                </a:tc>
                <a:tc>
                  <a:txBody>
                    <a:bodyPr/>
                    <a:lstStyle/>
                    <a:p>
                      <a:r>
                        <a:rPr lang="en-US" sz="1600"/>
                        <a:t>Pivot to binary classification. Train the model on a new dataset of Suno/</a:t>
                      </a:r>
                      <a:r>
                        <a:rPr lang="en-US" sz="1600" err="1"/>
                        <a:t>Udio</a:t>
                      </a:r>
                      <a:r>
                        <a:rPr lang="en-US" sz="1600"/>
                        <a:t> (AI) vs. GTZAN (Human) to identify "spectral artifacts" unique to generated audio.</a:t>
                      </a:r>
                    </a:p>
                  </a:txBody>
                  <a:tcPr/>
                </a:tc>
                <a:extLst>
                  <a:ext uri="{0D108BD9-81ED-4DB2-BD59-A6C34878D82A}">
                    <a16:rowId xmlns:a16="http://schemas.microsoft.com/office/drawing/2014/main" val="688875348"/>
                  </a:ext>
                </a:extLst>
              </a:tr>
            </a:tbl>
          </a:graphicData>
        </a:graphic>
      </p:graphicFrame>
    </p:spTree>
    <p:extLst>
      <p:ext uri="{BB962C8B-B14F-4D97-AF65-F5344CB8AC3E}">
        <p14:creationId xmlns:p14="http://schemas.microsoft.com/office/powerpoint/2010/main" val="29232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10F13-2974-7BB5-2BFB-C5993086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4C0855-4F11-8F4F-7D0D-6E20C0504203}"/>
              </a:ext>
            </a:extLst>
          </p:cNvPr>
          <p:cNvSpPr>
            <a:spLocks noGrp="1"/>
          </p:cNvSpPr>
          <p:nvPr>
            <p:ph type="title"/>
          </p:nvPr>
        </p:nvSpPr>
        <p:spPr>
          <a:xfrm>
            <a:off x="1248957" y="-2325"/>
            <a:ext cx="9692640" cy="1325562"/>
          </a:xfrm>
        </p:spPr>
        <p:txBody>
          <a:bodyPr/>
          <a:lstStyle/>
          <a:p>
            <a:r>
              <a:rPr lang="it-IT">
                <a:ea typeface="+mj-lt"/>
                <a:cs typeface="+mj-lt"/>
              </a:rPr>
              <a:t>Data </a:t>
            </a:r>
            <a:r>
              <a:rPr lang="it-IT" err="1">
                <a:ea typeface="+mj-lt"/>
                <a:cs typeface="+mj-lt"/>
              </a:rPr>
              <a:t>Limitations</a:t>
            </a:r>
            <a:endParaRPr lang="it-IT" err="1"/>
          </a:p>
        </p:txBody>
      </p:sp>
      <p:sp>
        <p:nvSpPr>
          <p:cNvPr id="3" name="Content Placeholder 2">
            <a:extLst>
              <a:ext uri="{FF2B5EF4-FFF2-40B4-BE49-F238E27FC236}">
                <a16:creationId xmlns:a16="http://schemas.microsoft.com/office/drawing/2014/main" id="{5B7A69B6-0155-971E-C2BB-F22A4E3DCDFD}"/>
              </a:ext>
            </a:extLst>
          </p:cNvPr>
          <p:cNvSpPr>
            <a:spLocks noGrp="1"/>
          </p:cNvSpPr>
          <p:nvPr>
            <p:ph idx="1"/>
          </p:nvPr>
        </p:nvSpPr>
        <p:spPr>
          <a:xfrm>
            <a:off x="1248957" y="1609241"/>
            <a:ext cx="8595360" cy="4351337"/>
          </a:xfrm>
        </p:spPr>
        <p:txBody>
          <a:bodyPr vert="horz" lIns="91440" tIns="45720" rIns="91440" bIns="45720" rtlCol="0" anchor="t">
            <a:noAutofit/>
          </a:bodyPr>
          <a:lstStyle/>
          <a:p>
            <a:pPr>
              <a:buFont typeface="Arial"/>
              <a:buChar char="•"/>
            </a:pPr>
            <a:r>
              <a:rPr lang="en-US" sz="2800">
                <a:ea typeface="+mn-lt"/>
                <a:cs typeface="+mn-lt"/>
              </a:rPr>
              <a:t>Human made music data set – GTZAN ~1000 files</a:t>
            </a:r>
          </a:p>
          <a:p>
            <a:pPr>
              <a:buFont typeface="Arial"/>
              <a:buChar char="•"/>
            </a:pPr>
            <a:r>
              <a:rPr lang="en-US" sz="2800">
                <a:ea typeface="+mn-lt"/>
                <a:cs typeface="+mn-lt"/>
              </a:rPr>
              <a:t>AI-generated music - Suno/</a:t>
            </a:r>
            <a:r>
              <a:rPr lang="en-US" sz="2800" err="1">
                <a:ea typeface="+mn-lt"/>
                <a:cs typeface="+mn-lt"/>
              </a:rPr>
              <a:t>Udio</a:t>
            </a:r>
            <a:r>
              <a:rPr lang="en-US" sz="2800">
                <a:ea typeface="+mn-lt"/>
                <a:cs typeface="+mn-lt"/>
              </a:rPr>
              <a:t> ~160 files</a:t>
            </a:r>
            <a:endParaRPr lang="en-US" sz="2800"/>
          </a:p>
          <a:p>
            <a:pPr marL="0" indent="0">
              <a:buNone/>
            </a:pPr>
            <a:endParaRPr lang="en-US" sz="2800"/>
          </a:p>
          <a:p>
            <a:pPr marL="0" indent="0">
              <a:buNone/>
            </a:pPr>
            <a:endParaRPr lang="en-US" sz="2400" i="1"/>
          </a:p>
          <a:p>
            <a:pPr marL="0" indent="0">
              <a:buNone/>
            </a:pPr>
            <a:endParaRPr lang="en-US">
              <a:solidFill>
                <a:srgbClr val="000000"/>
              </a:solidFill>
            </a:endParaRPr>
          </a:p>
        </p:txBody>
      </p:sp>
      <p:pic>
        <p:nvPicPr>
          <p:cNvPr id="4" name="Picture 3" descr="A computer screen with white text and purple text&#10;&#10;AI-generated content may be incorrect.">
            <a:extLst>
              <a:ext uri="{FF2B5EF4-FFF2-40B4-BE49-F238E27FC236}">
                <a16:creationId xmlns:a16="http://schemas.microsoft.com/office/drawing/2014/main" id="{7948EA9C-73D6-05FC-18A5-B84967171A6D}"/>
              </a:ext>
            </a:extLst>
          </p:cNvPr>
          <p:cNvPicPr>
            <a:picLocks noChangeAspect="1"/>
          </p:cNvPicPr>
          <p:nvPr/>
        </p:nvPicPr>
        <p:blipFill>
          <a:blip r:embed="rId3"/>
          <a:stretch>
            <a:fillRect/>
          </a:stretch>
        </p:blipFill>
        <p:spPr>
          <a:xfrm>
            <a:off x="1261005" y="3614738"/>
            <a:ext cx="8950325" cy="2344914"/>
          </a:xfrm>
          <a:prstGeom prst="rect">
            <a:avLst/>
          </a:prstGeom>
        </p:spPr>
      </p:pic>
      <p:sp>
        <p:nvSpPr>
          <p:cNvPr id="5" name="TextBox 4">
            <a:extLst>
              <a:ext uri="{FF2B5EF4-FFF2-40B4-BE49-F238E27FC236}">
                <a16:creationId xmlns:a16="http://schemas.microsoft.com/office/drawing/2014/main" id="{8F52C547-120C-2183-0E4D-A0B0525D73C5}"/>
              </a:ext>
            </a:extLst>
          </p:cNvPr>
          <p:cNvSpPr txBox="1"/>
          <p:nvPr/>
        </p:nvSpPr>
        <p:spPr>
          <a:xfrm>
            <a:off x="710339" y="5960388"/>
            <a:ext cx="10048066"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a:ea typeface="+mn-lt"/>
                <a:cs typeface="+mn-lt"/>
              </a:rPr>
              <a:t>*Weighted sampling compensates for the imbalance between 1,000 human tracks and 163 AI tracks.</a:t>
            </a:r>
            <a:endParaRPr lang="en-US" sz="1600" i="1"/>
          </a:p>
          <a:p>
            <a:pPr algn="l"/>
            <a:endParaRPr lang="en-US"/>
          </a:p>
        </p:txBody>
      </p:sp>
    </p:spTree>
    <p:extLst>
      <p:ext uri="{BB962C8B-B14F-4D97-AF65-F5344CB8AC3E}">
        <p14:creationId xmlns:p14="http://schemas.microsoft.com/office/powerpoint/2010/main" val="1490338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BE0BE-AD3B-87FF-B788-EA4634A8A1CE}"/>
              </a:ext>
            </a:extLst>
          </p:cNvPr>
          <p:cNvSpPr>
            <a:spLocks noGrp="1"/>
          </p:cNvSpPr>
          <p:nvPr>
            <p:ph type="title"/>
          </p:nvPr>
        </p:nvSpPr>
        <p:spPr/>
        <p:txBody>
          <a:bodyPr/>
          <a:lstStyle/>
          <a:p>
            <a:r>
              <a:rPr lang="en-US">
                <a:ea typeface="+mj-lt"/>
                <a:cs typeface="+mj-lt"/>
              </a:rPr>
              <a:t>Initial Results </a:t>
            </a:r>
            <a:endParaRPr lang="en-US"/>
          </a:p>
        </p:txBody>
      </p:sp>
      <p:sp>
        <p:nvSpPr>
          <p:cNvPr id="3" name="Content Placeholder 2">
            <a:extLst>
              <a:ext uri="{FF2B5EF4-FFF2-40B4-BE49-F238E27FC236}">
                <a16:creationId xmlns:a16="http://schemas.microsoft.com/office/drawing/2014/main" id="{375DD4B7-7933-B60D-84D8-C594C3CEFF5F}"/>
              </a:ext>
            </a:extLst>
          </p:cNvPr>
          <p:cNvSpPr>
            <a:spLocks noGrp="1"/>
          </p:cNvSpPr>
          <p:nvPr>
            <p:ph idx="1"/>
          </p:nvPr>
        </p:nvSpPr>
        <p:spPr/>
        <p:txBody>
          <a:bodyPr vert="horz" lIns="91440" tIns="45720" rIns="91440" bIns="45720" rtlCol="0" anchor="t">
            <a:normAutofit/>
          </a:bodyPr>
          <a:lstStyle/>
          <a:p>
            <a:r>
              <a:rPr lang="en-US" sz="2400">
                <a:ea typeface="+mn-lt"/>
                <a:cs typeface="+mn-lt"/>
              </a:rPr>
              <a:t>Model predicted 100% AI for all inputs despite correct genre outputs </a:t>
            </a:r>
          </a:p>
          <a:p>
            <a:r>
              <a:rPr lang="en-US" sz="2400">
                <a:ea typeface="+mn-lt"/>
                <a:cs typeface="+mn-lt"/>
              </a:rPr>
              <a:t>Root debugging steps uncovered issues like silent audio input (</a:t>
            </a:r>
            <a:r>
              <a:rPr lang="en-US" sz="2400" err="1">
                <a:ea typeface="+mn-lt"/>
                <a:cs typeface="+mn-lt"/>
              </a:rPr>
              <a:t>FFmpeg</a:t>
            </a:r>
            <a:r>
              <a:rPr lang="en-US" sz="2400">
                <a:ea typeface="+mn-lt"/>
                <a:cs typeface="+mn-lt"/>
              </a:rPr>
              <a:t>) and architecture mismatches </a:t>
            </a:r>
            <a:endParaRPr lang="en-US" sz="2400"/>
          </a:p>
          <a:p>
            <a:r>
              <a:rPr lang="en-US" sz="2400"/>
              <a:t>Switching to a hybrid approach </a:t>
            </a:r>
          </a:p>
          <a:p>
            <a:r>
              <a:rPr lang="en-US" sz="2400">
                <a:ea typeface="+mn-lt"/>
                <a:cs typeface="+mn-lt"/>
              </a:rPr>
              <a:t>Result improved from 100% AI to ~75% Human / 25% AI on real songs (partial but meaningful progress)</a:t>
            </a:r>
            <a:endParaRPr lang="en-US" sz="2400"/>
          </a:p>
          <a:p>
            <a:endParaRPr lang="en-US"/>
          </a:p>
          <a:p>
            <a:endParaRPr lang="en-US"/>
          </a:p>
        </p:txBody>
      </p:sp>
    </p:spTree>
    <p:extLst>
      <p:ext uri="{BB962C8B-B14F-4D97-AF65-F5344CB8AC3E}">
        <p14:creationId xmlns:p14="http://schemas.microsoft.com/office/powerpoint/2010/main" val="3131651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67D982-25C5-4CC2-AA64-276BE3B2C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 name="Content Placeholder 3" descr="A screenshot of a computer&#10;&#10;AI-generated content may be incorrect.">
            <a:extLst>
              <a:ext uri="{FF2B5EF4-FFF2-40B4-BE49-F238E27FC236}">
                <a16:creationId xmlns:a16="http://schemas.microsoft.com/office/drawing/2014/main" id="{E9454CE4-A848-1D35-8A6C-695C2C23EADB}"/>
              </a:ext>
            </a:extLst>
          </p:cNvPr>
          <p:cNvPicPr>
            <a:picLocks noChangeAspect="1"/>
          </p:cNvPicPr>
          <p:nvPr/>
        </p:nvPicPr>
        <p:blipFill>
          <a:blip r:embed="rId3"/>
          <a:srcRect r="22632" b="1"/>
          <a:stretch>
            <a:fillRect/>
          </a:stretch>
        </p:blipFill>
        <p:spPr>
          <a:xfrm>
            <a:off x="2726155" y="264170"/>
            <a:ext cx="6737887" cy="6314713"/>
          </a:xfrm>
          <a:prstGeom prst="rect">
            <a:avLst/>
          </a:prstGeom>
        </p:spPr>
      </p:pic>
    </p:spTree>
    <p:extLst>
      <p:ext uri="{BB962C8B-B14F-4D97-AF65-F5344CB8AC3E}">
        <p14:creationId xmlns:p14="http://schemas.microsoft.com/office/powerpoint/2010/main" val="329461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F0480-EE77-D33D-DE91-E0A89BA5F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9A87E0-6123-4F68-4D2B-13F411C8215A}"/>
              </a:ext>
            </a:extLst>
          </p:cNvPr>
          <p:cNvSpPr>
            <a:spLocks noGrp="1"/>
          </p:cNvSpPr>
          <p:nvPr>
            <p:ph type="title"/>
          </p:nvPr>
        </p:nvSpPr>
        <p:spPr>
          <a:xfrm>
            <a:off x="835669" y="-137935"/>
            <a:ext cx="9692640" cy="1325562"/>
          </a:xfrm>
        </p:spPr>
        <p:txBody>
          <a:bodyPr/>
          <a:lstStyle/>
          <a:p>
            <a:r>
              <a:rPr lang="en-US"/>
              <a:t>Model Failure Analysis</a:t>
            </a:r>
          </a:p>
        </p:txBody>
      </p:sp>
      <p:sp>
        <p:nvSpPr>
          <p:cNvPr id="3" name="Content Placeholder 2">
            <a:extLst>
              <a:ext uri="{FF2B5EF4-FFF2-40B4-BE49-F238E27FC236}">
                <a16:creationId xmlns:a16="http://schemas.microsoft.com/office/drawing/2014/main" id="{B4B015E9-8F30-07F3-CC5E-DD80F17EABDB}"/>
              </a:ext>
            </a:extLst>
          </p:cNvPr>
          <p:cNvSpPr>
            <a:spLocks noGrp="1"/>
          </p:cNvSpPr>
          <p:nvPr>
            <p:ph idx="1"/>
          </p:nvPr>
        </p:nvSpPr>
        <p:spPr>
          <a:xfrm>
            <a:off x="938991" y="1066800"/>
            <a:ext cx="9977292" cy="5617031"/>
          </a:xfrm>
        </p:spPr>
        <p:txBody>
          <a:bodyPr vert="horz" lIns="91440" tIns="45720" rIns="91440" bIns="45720" rtlCol="0" anchor="t">
            <a:noAutofit/>
          </a:bodyPr>
          <a:lstStyle/>
          <a:p>
            <a:endParaRPr lang="en-US" sz="1050">
              <a:solidFill>
                <a:srgbClr val="BFBFBF"/>
              </a:solidFill>
              <a:highlight>
                <a:srgbClr val="191A1B"/>
              </a:highlight>
            </a:endParaRPr>
          </a:p>
          <a:p>
            <a:pPr marL="0" indent="0">
              <a:buNone/>
            </a:pPr>
            <a:r>
              <a:rPr lang="en-US" sz="2000" b="1">
                <a:ea typeface="+mn-lt"/>
                <a:cs typeface="+mn-lt"/>
              </a:rPr>
              <a:t>Content:</a:t>
            </a:r>
            <a:endParaRPr lang="en-US" sz="2000">
              <a:ea typeface="+mn-lt"/>
              <a:cs typeface="+mn-lt"/>
            </a:endParaRPr>
          </a:p>
          <a:p>
            <a:r>
              <a:rPr lang="en-US" sz="2000">
                <a:ea typeface="+mn-lt"/>
                <a:cs typeface="+mn-lt"/>
              </a:rPr>
              <a:t>Misclassification at high confidence </a:t>
            </a:r>
            <a:endParaRPr lang="en-US" sz="2000"/>
          </a:p>
          <a:p>
            <a:pPr>
              <a:buFont typeface="Arial"/>
            </a:pPr>
            <a:r>
              <a:rPr lang="en-US" sz="2000">
                <a:ea typeface="+mn-lt"/>
                <a:cs typeface="+mn-lt"/>
              </a:rPr>
              <a:t>AI Hip-Hop → Classical (97%) </a:t>
            </a:r>
            <a:endParaRPr lang="en-US" sz="2000"/>
          </a:p>
          <a:p>
            <a:r>
              <a:rPr lang="en-US" sz="2000">
                <a:ea typeface="+mn-lt"/>
                <a:cs typeface="+mn-lt"/>
              </a:rPr>
              <a:t>Human → AI (95%+) </a:t>
            </a:r>
            <a:endParaRPr lang="en-US" sz="2000"/>
          </a:p>
          <a:p>
            <a:pPr marL="0" indent="0">
              <a:buNone/>
            </a:pPr>
            <a:endParaRPr lang="en-US" sz="2000">
              <a:ea typeface="+mn-lt"/>
              <a:cs typeface="+mn-lt"/>
            </a:endParaRPr>
          </a:p>
          <a:p>
            <a:pPr marL="0" indent="0">
              <a:buNone/>
            </a:pPr>
            <a:r>
              <a:rPr lang="en-US" sz="2000" b="1">
                <a:ea typeface="+mn-lt"/>
                <a:cs typeface="+mn-lt"/>
              </a:rPr>
              <a:t>Root Issues:</a:t>
            </a:r>
            <a:endParaRPr lang="en-US" sz="2000"/>
          </a:p>
          <a:p>
            <a:r>
              <a:rPr lang="en-US" sz="2000">
                <a:ea typeface="+mn-lt"/>
                <a:cs typeface="+mn-lt"/>
              </a:rPr>
              <a:t>Double normalization </a:t>
            </a:r>
            <a:endParaRPr lang="en-US" sz="2000"/>
          </a:p>
          <a:p>
            <a:r>
              <a:rPr lang="en-US" sz="2000">
                <a:ea typeface="+mn-lt"/>
                <a:cs typeface="+mn-lt"/>
              </a:rPr>
              <a:t>Training ≠ inference pipeline </a:t>
            </a:r>
            <a:endParaRPr lang="en-US" sz="2000"/>
          </a:p>
          <a:p>
            <a:r>
              <a:rPr lang="en-US" sz="2000">
                <a:ea typeface="+mn-lt"/>
                <a:cs typeface="+mn-lt"/>
              </a:rPr>
              <a:t>Heuristic overrides interfering </a:t>
            </a:r>
            <a:endParaRPr lang="en-US" sz="2000"/>
          </a:p>
          <a:p>
            <a:r>
              <a:rPr lang="en-US" sz="2000">
                <a:ea typeface="+mn-lt"/>
                <a:cs typeface="+mn-lt"/>
              </a:rPr>
              <a:t>Only first 30s analyzed</a:t>
            </a:r>
            <a:endParaRPr lang="en-US" sz="2000"/>
          </a:p>
          <a:p>
            <a:pPr>
              <a:buNone/>
            </a:pPr>
            <a:r>
              <a:rPr lang="en-US" sz="1600" i="1">
                <a:ea typeface="+mn-lt"/>
                <a:cs typeface="+mn-lt"/>
              </a:rPr>
              <a:t>*Model was learning the wrong signals due to preprocessing and pipeline mismatch.</a:t>
            </a:r>
            <a:endParaRPr lang="en-US" sz="1600">
              <a:ea typeface="+mn-lt"/>
              <a:cs typeface="+mn-lt"/>
            </a:endParaRPr>
          </a:p>
          <a:p>
            <a:pPr marL="0" indent="0">
              <a:buNone/>
            </a:pPr>
            <a:endParaRPr lang="en-US" sz="2000">
              <a:ea typeface="+mn-lt"/>
              <a:cs typeface="+mn-lt"/>
            </a:endParaRPr>
          </a:p>
          <a:p>
            <a:endParaRPr lang="en-US" sz="2800"/>
          </a:p>
          <a:p>
            <a:endParaRPr lang="en-US" sz="2000"/>
          </a:p>
          <a:p>
            <a:endParaRPr lang="en-US" sz="2000"/>
          </a:p>
        </p:txBody>
      </p:sp>
    </p:spTree>
    <p:extLst>
      <p:ext uri="{BB962C8B-B14F-4D97-AF65-F5344CB8AC3E}">
        <p14:creationId xmlns:p14="http://schemas.microsoft.com/office/powerpoint/2010/main" val="669956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45835-7B9F-80C1-0FF4-A4BB460BF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A8364-E287-81BA-E48E-8AB0142077CE}"/>
              </a:ext>
            </a:extLst>
          </p:cNvPr>
          <p:cNvSpPr>
            <a:spLocks noGrp="1"/>
          </p:cNvSpPr>
          <p:nvPr>
            <p:ph type="title"/>
          </p:nvPr>
        </p:nvSpPr>
        <p:spPr>
          <a:xfrm>
            <a:off x="951906" y="-254172"/>
            <a:ext cx="9692640" cy="1325562"/>
          </a:xfrm>
        </p:spPr>
        <p:txBody>
          <a:bodyPr>
            <a:normAutofit/>
          </a:bodyPr>
          <a:lstStyle/>
          <a:p>
            <a:r>
              <a:rPr lang="en-US" sz="4800"/>
              <a:t>Solution</a:t>
            </a:r>
          </a:p>
        </p:txBody>
      </p:sp>
      <p:sp>
        <p:nvSpPr>
          <p:cNvPr id="3" name="Content Placeholder 2">
            <a:extLst>
              <a:ext uri="{FF2B5EF4-FFF2-40B4-BE49-F238E27FC236}">
                <a16:creationId xmlns:a16="http://schemas.microsoft.com/office/drawing/2014/main" id="{35B2B2A8-55ED-028E-FEEE-56BC7F2524A4}"/>
              </a:ext>
            </a:extLst>
          </p:cNvPr>
          <p:cNvSpPr>
            <a:spLocks noGrp="1"/>
          </p:cNvSpPr>
          <p:nvPr>
            <p:ph idx="1"/>
          </p:nvPr>
        </p:nvSpPr>
        <p:spPr>
          <a:xfrm>
            <a:off x="951906" y="1066800"/>
            <a:ext cx="9899800" cy="5087506"/>
          </a:xfrm>
        </p:spPr>
        <p:txBody>
          <a:bodyPr vert="horz" lIns="91440" tIns="45720" rIns="91440" bIns="45720" rtlCol="0" anchor="t">
            <a:normAutofit fontScale="92500" lnSpcReduction="20000"/>
          </a:bodyPr>
          <a:lstStyle/>
          <a:p>
            <a:endParaRPr lang="en-US" sz="1000">
              <a:solidFill>
                <a:srgbClr val="BFBFBF"/>
              </a:solidFill>
              <a:highlight>
                <a:srgbClr val="191A1B"/>
              </a:highlight>
            </a:endParaRPr>
          </a:p>
          <a:p>
            <a:pPr marL="0" indent="0">
              <a:buNone/>
            </a:pPr>
            <a:r>
              <a:rPr lang="en-US" sz="2400" b="1">
                <a:ea typeface="+mn-lt"/>
                <a:cs typeface="+mn-lt"/>
              </a:rPr>
              <a:t>Content:</a:t>
            </a:r>
            <a:endParaRPr lang="en-US" sz="2400" b="1"/>
          </a:p>
          <a:p>
            <a:r>
              <a:rPr lang="en-US" sz="2400">
                <a:ea typeface="+mn-lt"/>
                <a:cs typeface="+mn-lt"/>
              </a:rPr>
              <a:t>Fixed normalization logic </a:t>
            </a:r>
            <a:endParaRPr lang="en-US"/>
          </a:p>
          <a:p>
            <a:r>
              <a:rPr lang="en-US" sz="2400">
                <a:ea typeface="+mn-lt"/>
                <a:cs typeface="+mn-lt"/>
              </a:rPr>
              <a:t>Trained on raw audio (matched inference) </a:t>
            </a:r>
            <a:endParaRPr lang="en-US"/>
          </a:p>
          <a:p>
            <a:r>
              <a:rPr lang="en-US" sz="2400">
                <a:ea typeface="+mn-lt"/>
                <a:cs typeface="+mn-lt"/>
              </a:rPr>
              <a:t>Removed all heuristics </a:t>
            </a:r>
            <a:endParaRPr lang="en-US"/>
          </a:p>
          <a:p>
            <a:r>
              <a:rPr lang="en-US" sz="2400">
                <a:ea typeface="+mn-lt"/>
                <a:cs typeface="+mn-lt"/>
              </a:rPr>
              <a:t>Full-track multi-window analysis </a:t>
            </a:r>
            <a:endParaRPr lang="en-US"/>
          </a:p>
          <a:p>
            <a:pPr marL="0" indent="0">
              <a:buNone/>
            </a:pPr>
            <a:endParaRPr lang="en-US" sz="2400" b="1">
              <a:ea typeface="+mn-lt"/>
              <a:cs typeface="+mn-lt"/>
            </a:endParaRPr>
          </a:p>
          <a:p>
            <a:pPr marL="0" indent="0">
              <a:buNone/>
            </a:pPr>
            <a:r>
              <a:rPr lang="en-US" sz="2400" b="1">
                <a:ea typeface="+mn-lt"/>
                <a:cs typeface="+mn-lt"/>
              </a:rPr>
              <a:t>Result:</a:t>
            </a:r>
            <a:endParaRPr lang="en-US"/>
          </a:p>
          <a:p>
            <a:r>
              <a:rPr lang="en-US" sz="2400">
                <a:ea typeface="+mn-lt"/>
                <a:cs typeface="+mn-lt"/>
              </a:rPr>
              <a:t>Human: 0.00–0.20 </a:t>
            </a:r>
            <a:endParaRPr lang="en-US"/>
          </a:p>
          <a:p>
            <a:r>
              <a:rPr lang="en-US" sz="2400">
                <a:ea typeface="+mn-lt"/>
                <a:cs typeface="+mn-lt"/>
              </a:rPr>
              <a:t>AI: 0.40–1.00 </a:t>
            </a:r>
            <a:endParaRPr lang="en-US"/>
          </a:p>
          <a:p>
            <a:r>
              <a:rPr lang="en-US" sz="2400">
                <a:ea typeface="+mn-lt"/>
                <a:cs typeface="+mn-lt"/>
              </a:rPr>
              <a:t>Clean separation</a:t>
            </a:r>
            <a:endParaRPr lang="en-US" i="1"/>
          </a:p>
        </p:txBody>
      </p:sp>
    </p:spTree>
    <p:extLst>
      <p:ext uri="{BB962C8B-B14F-4D97-AF65-F5344CB8AC3E}">
        <p14:creationId xmlns:p14="http://schemas.microsoft.com/office/powerpoint/2010/main" val="3390145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862AE-4F66-BC02-008A-C21491A0B634}"/>
              </a:ext>
            </a:extLst>
          </p:cNvPr>
          <p:cNvSpPr>
            <a:spLocks noGrp="1"/>
          </p:cNvSpPr>
          <p:nvPr>
            <p:ph type="title"/>
          </p:nvPr>
        </p:nvSpPr>
        <p:spPr>
          <a:xfrm>
            <a:off x="408908" y="-324026"/>
            <a:ext cx="6834158" cy="1325562"/>
          </a:xfrm>
        </p:spPr>
        <p:txBody>
          <a:bodyPr>
            <a:normAutofit/>
          </a:bodyPr>
          <a:lstStyle/>
          <a:p>
            <a:r>
              <a:rPr lang="it-IT" err="1"/>
              <a:t>Genre</a:t>
            </a:r>
            <a:r>
              <a:rPr lang="it-IT"/>
              <a:t> Combination</a:t>
            </a:r>
            <a:endParaRPr lang="en-US"/>
          </a:p>
        </p:txBody>
      </p:sp>
      <p:sp>
        <p:nvSpPr>
          <p:cNvPr id="3" name="Content Placeholder 2">
            <a:extLst>
              <a:ext uri="{FF2B5EF4-FFF2-40B4-BE49-F238E27FC236}">
                <a16:creationId xmlns:a16="http://schemas.microsoft.com/office/drawing/2014/main" id="{B2D1CA76-CF26-4BFE-17DB-43C304377E6E}"/>
              </a:ext>
            </a:extLst>
          </p:cNvPr>
          <p:cNvSpPr>
            <a:spLocks noGrp="1"/>
          </p:cNvSpPr>
          <p:nvPr>
            <p:ph idx="1"/>
          </p:nvPr>
        </p:nvSpPr>
        <p:spPr>
          <a:xfrm>
            <a:off x="718874" y="2325158"/>
            <a:ext cx="4534048" cy="3854979"/>
          </a:xfrm>
        </p:spPr>
        <p:txBody>
          <a:bodyPr vert="horz" lIns="91440" tIns="45720" rIns="91440" bIns="45720" rtlCol="0">
            <a:normAutofit/>
          </a:bodyPr>
          <a:lstStyle/>
          <a:p>
            <a:endParaRPr lang="en-US"/>
          </a:p>
          <a:p>
            <a:endParaRPr lang="en-US"/>
          </a:p>
        </p:txBody>
      </p:sp>
      <p:pic>
        <p:nvPicPr>
          <p:cNvPr id="7" name="Picture 6" descr="A black background with white text&#10;&#10;AI-generated content may be incorrect.">
            <a:extLst>
              <a:ext uri="{FF2B5EF4-FFF2-40B4-BE49-F238E27FC236}">
                <a16:creationId xmlns:a16="http://schemas.microsoft.com/office/drawing/2014/main" id="{7713E01C-1854-10B4-EBAE-655E4ED8211F}"/>
              </a:ext>
            </a:extLst>
          </p:cNvPr>
          <p:cNvPicPr>
            <a:picLocks noChangeAspect="1"/>
          </p:cNvPicPr>
          <p:nvPr/>
        </p:nvPicPr>
        <p:blipFill>
          <a:blip r:embed="rId2"/>
          <a:stretch>
            <a:fillRect/>
          </a:stretch>
        </p:blipFill>
        <p:spPr>
          <a:xfrm>
            <a:off x="1703930" y="1180570"/>
            <a:ext cx="7968711" cy="2247932"/>
          </a:xfrm>
          <a:prstGeom prst="rect">
            <a:avLst/>
          </a:prstGeom>
        </p:spPr>
      </p:pic>
      <p:sp>
        <p:nvSpPr>
          <p:cNvPr id="8" name="TextBox 7">
            <a:extLst>
              <a:ext uri="{FF2B5EF4-FFF2-40B4-BE49-F238E27FC236}">
                <a16:creationId xmlns:a16="http://schemas.microsoft.com/office/drawing/2014/main" id="{89CD23B0-D1DB-5FF4-6B0D-621DA71B55D7}"/>
              </a:ext>
            </a:extLst>
          </p:cNvPr>
          <p:cNvSpPr txBox="1"/>
          <p:nvPr/>
        </p:nvSpPr>
        <p:spPr>
          <a:xfrm>
            <a:off x="410179" y="3431390"/>
            <a:ext cx="10480968"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Class 0 (</a:t>
            </a:r>
            <a:r>
              <a:rPr lang="en-US">
                <a:ea typeface="+mn-lt"/>
                <a:cs typeface="+mn-lt"/>
              </a:rPr>
              <a:t>Acoustic) - Acoustic arrangements meet clean harmonic overtones to help the model identify natural resonance and high dynamic range.</a:t>
            </a:r>
            <a:endParaRPr lang="en-US"/>
          </a:p>
          <a:p>
            <a:endParaRPr lang="en-US"/>
          </a:p>
          <a:p>
            <a:r>
              <a:rPr lang="en-US"/>
              <a:t>Class 1 (Rhythmic) - </a:t>
            </a:r>
            <a:r>
              <a:rPr lang="en-US">
                <a:ea typeface="+mn-lt"/>
                <a:cs typeface="+mn-lt"/>
              </a:rPr>
              <a:t>Rhythmic backbeats align with bottom-heavy spectral energy (20 to 200 Hz) to isolate transient kick and bass peaks.</a:t>
            </a:r>
          </a:p>
          <a:p>
            <a:endParaRPr lang="en-US"/>
          </a:p>
          <a:p>
            <a:r>
              <a:rPr lang="en-US"/>
              <a:t>Class 2 (</a:t>
            </a:r>
            <a:r>
              <a:rPr lang="en-US">
                <a:ea typeface="+mn-lt"/>
                <a:cs typeface="+mn-lt"/>
              </a:rPr>
              <a:t>Aggressive</a:t>
            </a:r>
            <a:r>
              <a:rPr lang="en-US"/>
              <a:t>) -</a:t>
            </a:r>
            <a:r>
              <a:rPr lang="en-US">
                <a:ea typeface="+mn-lt"/>
                <a:cs typeface="+mn-lt"/>
              </a:rPr>
              <a:t> Aggressive guitar distortion and busy drumming create a saturated, full-spectrum "wall of noise" that defines this high-energy class.</a:t>
            </a:r>
          </a:p>
          <a:p>
            <a:endParaRPr lang="en-US"/>
          </a:p>
          <a:p>
            <a:r>
              <a:rPr lang="en-US"/>
              <a:t>Class 3 (</a:t>
            </a:r>
            <a:r>
              <a:rPr lang="en-US">
                <a:ea typeface="+mn-lt"/>
                <a:cs typeface="+mn-lt"/>
              </a:rPr>
              <a:t>Melodic</a:t>
            </a:r>
            <a:r>
              <a:rPr lang="en-US"/>
              <a:t>) -</a:t>
            </a:r>
            <a:r>
              <a:rPr lang="en-US">
                <a:ea typeface="+mn-lt"/>
                <a:cs typeface="+mn-lt"/>
              </a:rPr>
              <a:t> Vocal-centric verse-chorus structures utilize a strong mid-range spectral presence to help the model locate the signature "vocal pocket."</a:t>
            </a:r>
            <a:endParaRPr lang="en-US"/>
          </a:p>
        </p:txBody>
      </p:sp>
    </p:spTree>
    <p:extLst>
      <p:ext uri="{BB962C8B-B14F-4D97-AF65-F5344CB8AC3E}">
        <p14:creationId xmlns:p14="http://schemas.microsoft.com/office/powerpoint/2010/main" val="1408562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9C155E-5B72-6D23-DAD1-94042E6A8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AB8EF-A56E-C6CE-C5D5-50E6385F4580}"/>
              </a:ext>
            </a:extLst>
          </p:cNvPr>
          <p:cNvSpPr>
            <a:spLocks noGrp="1"/>
          </p:cNvSpPr>
          <p:nvPr>
            <p:ph type="title"/>
          </p:nvPr>
        </p:nvSpPr>
        <p:spPr>
          <a:xfrm>
            <a:off x="408908" y="-324026"/>
            <a:ext cx="6834158" cy="1325562"/>
          </a:xfrm>
        </p:spPr>
        <p:txBody>
          <a:bodyPr>
            <a:normAutofit/>
          </a:bodyPr>
          <a:lstStyle/>
          <a:p>
            <a:r>
              <a:rPr lang="it-IT"/>
              <a:t>Key Training </a:t>
            </a:r>
            <a:r>
              <a:rPr lang="it-IT" err="1"/>
              <a:t>Decisions</a:t>
            </a:r>
          </a:p>
        </p:txBody>
      </p:sp>
      <p:sp>
        <p:nvSpPr>
          <p:cNvPr id="3" name="Content Placeholder 2">
            <a:extLst>
              <a:ext uri="{FF2B5EF4-FFF2-40B4-BE49-F238E27FC236}">
                <a16:creationId xmlns:a16="http://schemas.microsoft.com/office/drawing/2014/main" id="{3AE5932E-28D6-642F-CFFB-AD2B3990EE1D}"/>
              </a:ext>
            </a:extLst>
          </p:cNvPr>
          <p:cNvSpPr>
            <a:spLocks noGrp="1"/>
          </p:cNvSpPr>
          <p:nvPr>
            <p:ph idx="1"/>
          </p:nvPr>
        </p:nvSpPr>
        <p:spPr>
          <a:xfrm>
            <a:off x="718874" y="2325158"/>
            <a:ext cx="4534048" cy="3854979"/>
          </a:xfrm>
        </p:spPr>
        <p:txBody>
          <a:bodyPr vert="horz" lIns="91440" tIns="45720" rIns="91440" bIns="45720" rtlCol="0">
            <a:normAutofit/>
          </a:bodyPr>
          <a:lstStyle/>
          <a:p>
            <a:endParaRPr lang="en-US"/>
          </a:p>
          <a:p>
            <a:endParaRPr lang="en-US"/>
          </a:p>
        </p:txBody>
      </p:sp>
      <p:sp>
        <p:nvSpPr>
          <p:cNvPr id="5" name="TextBox 4">
            <a:extLst>
              <a:ext uri="{FF2B5EF4-FFF2-40B4-BE49-F238E27FC236}">
                <a16:creationId xmlns:a16="http://schemas.microsoft.com/office/drawing/2014/main" id="{D4028285-6BB7-09BB-646A-B0F45B20C4CE}"/>
              </a:ext>
            </a:extLst>
          </p:cNvPr>
          <p:cNvSpPr txBox="1"/>
          <p:nvPr/>
        </p:nvSpPr>
        <p:spPr>
          <a:xfrm>
            <a:off x="671593" y="1833966"/>
            <a:ext cx="2743199" cy="365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6" name="Picture 5" descr="A black background with white text and numbers&#10;&#10;AI-generated content may be incorrect.">
            <a:extLst>
              <a:ext uri="{FF2B5EF4-FFF2-40B4-BE49-F238E27FC236}">
                <a16:creationId xmlns:a16="http://schemas.microsoft.com/office/drawing/2014/main" id="{579857CC-3B69-0667-62B7-94B109F5A76F}"/>
              </a:ext>
            </a:extLst>
          </p:cNvPr>
          <p:cNvPicPr>
            <a:picLocks noChangeAspect="1"/>
          </p:cNvPicPr>
          <p:nvPr/>
        </p:nvPicPr>
        <p:blipFill>
          <a:blip r:embed="rId2"/>
          <a:stretch>
            <a:fillRect/>
          </a:stretch>
        </p:blipFill>
        <p:spPr>
          <a:xfrm>
            <a:off x="411105" y="4041401"/>
            <a:ext cx="9239250" cy="1362075"/>
          </a:xfrm>
          <a:prstGeom prst="rect">
            <a:avLst/>
          </a:prstGeom>
        </p:spPr>
      </p:pic>
      <p:pic>
        <p:nvPicPr>
          <p:cNvPr id="10" name="Picture 9" descr="A black background with purple letters&#10;&#10;AI-generated content may be incorrect.">
            <a:extLst>
              <a:ext uri="{FF2B5EF4-FFF2-40B4-BE49-F238E27FC236}">
                <a16:creationId xmlns:a16="http://schemas.microsoft.com/office/drawing/2014/main" id="{EFC5BD90-0FD3-5F81-57F7-8ACFEB088720}"/>
              </a:ext>
            </a:extLst>
          </p:cNvPr>
          <p:cNvPicPr>
            <a:picLocks noChangeAspect="1"/>
          </p:cNvPicPr>
          <p:nvPr/>
        </p:nvPicPr>
        <p:blipFill>
          <a:blip r:embed="rId3"/>
          <a:stretch>
            <a:fillRect/>
          </a:stretch>
        </p:blipFill>
        <p:spPr>
          <a:xfrm>
            <a:off x="408164" y="1606726"/>
            <a:ext cx="3981450" cy="695325"/>
          </a:xfrm>
          <a:prstGeom prst="rect">
            <a:avLst/>
          </a:prstGeom>
        </p:spPr>
      </p:pic>
      <p:sp>
        <p:nvSpPr>
          <p:cNvPr id="11" name="TextBox 10">
            <a:extLst>
              <a:ext uri="{FF2B5EF4-FFF2-40B4-BE49-F238E27FC236}">
                <a16:creationId xmlns:a16="http://schemas.microsoft.com/office/drawing/2014/main" id="{3C0840B3-F11C-C114-9325-FBFFD5810C23}"/>
              </a:ext>
            </a:extLst>
          </p:cNvPr>
          <p:cNvSpPr txBox="1"/>
          <p:nvPr/>
        </p:nvSpPr>
        <p:spPr>
          <a:xfrm>
            <a:off x="4694695" y="1323814"/>
            <a:ext cx="634138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Original issue:</a:t>
            </a:r>
            <a:endParaRPr lang="en-US"/>
          </a:p>
          <a:p>
            <a:r>
              <a:rPr lang="en-US">
                <a:ea typeface="+mn-lt"/>
                <a:cs typeface="+mn-lt"/>
              </a:rPr>
              <a:t>Human files were raw dB values: -80 to 0</a:t>
            </a:r>
            <a:endParaRPr lang="en-US"/>
          </a:p>
          <a:p>
            <a:r>
              <a:rPr lang="en-US">
                <a:ea typeface="+mn-lt"/>
                <a:cs typeface="+mn-lt"/>
              </a:rPr>
              <a:t>AI files were already normalized: 0 to 1</a:t>
            </a:r>
          </a:p>
          <a:p>
            <a:r>
              <a:rPr lang="en-US">
                <a:ea typeface="+mn-lt"/>
                <a:cs typeface="+mn-lt"/>
              </a:rPr>
              <a:t>Same normalization was applied to two different data formats, causing AI files to become almost all-white.</a:t>
            </a:r>
            <a:endParaRPr lang="en-US"/>
          </a:p>
          <a:p>
            <a:endParaRPr lang="en-US"/>
          </a:p>
        </p:txBody>
      </p:sp>
      <p:sp>
        <p:nvSpPr>
          <p:cNvPr id="12" name="TextBox 11">
            <a:extLst>
              <a:ext uri="{FF2B5EF4-FFF2-40B4-BE49-F238E27FC236}">
                <a16:creationId xmlns:a16="http://schemas.microsoft.com/office/drawing/2014/main" id="{BFFFADAE-F7D3-8412-79AB-583083DC397D}"/>
              </a:ext>
            </a:extLst>
          </p:cNvPr>
          <p:cNvSpPr txBox="1"/>
          <p:nvPr/>
        </p:nvSpPr>
        <p:spPr>
          <a:xfrm>
            <a:off x="607016" y="5592305"/>
            <a:ext cx="907942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Training now uses the same raw-audio preprocessing pipeline as inference.</a:t>
            </a:r>
          </a:p>
          <a:p>
            <a:pPr algn="l"/>
            <a:endParaRPr lang="en-US"/>
          </a:p>
        </p:txBody>
      </p:sp>
    </p:spTree>
    <p:extLst>
      <p:ext uri="{BB962C8B-B14F-4D97-AF65-F5344CB8AC3E}">
        <p14:creationId xmlns:p14="http://schemas.microsoft.com/office/powerpoint/2010/main" val="3092357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C7FD64-1EAC-2718-2BDC-A82B5ACD6F49}"/>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53F4E5A-C9EE-4859-B46B-F018F7D73A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29284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629FC5-6190-7955-E005-B13091485D26}"/>
              </a:ext>
            </a:extLst>
          </p:cNvPr>
          <p:cNvSpPr>
            <a:spLocks noGrp="1"/>
          </p:cNvSpPr>
          <p:nvPr>
            <p:ph type="title"/>
          </p:nvPr>
        </p:nvSpPr>
        <p:spPr>
          <a:xfrm>
            <a:off x="643468" y="4564674"/>
            <a:ext cx="4010820" cy="1615461"/>
          </a:xfrm>
        </p:spPr>
        <p:txBody>
          <a:bodyPr anchor="ctr">
            <a:normAutofit/>
          </a:bodyPr>
          <a:lstStyle/>
          <a:p>
            <a:r>
              <a:rPr lang="it-IT" sz="3200" err="1"/>
              <a:t>Classification</a:t>
            </a:r>
            <a:r>
              <a:rPr lang="it-IT" sz="3200"/>
              <a:t> vs Analysis Value </a:t>
            </a:r>
            <a:endParaRPr lang="en-US"/>
          </a:p>
        </p:txBody>
      </p:sp>
      <p:pic>
        <p:nvPicPr>
          <p:cNvPr id="8" name="Picture 7" descr="A screen shot of a computer program&#10;&#10;AI-generated content may be incorrect.">
            <a:extLst>
              <a:ext uri="{FF2B5EF4-FFF2-40B4-BE49-F238E27FC236}">
                <a16:creationId xmlns:a16="http://schemas.microsoft.com/office/drawing/2014/main" id="{02EB0410-62C5-EA96-5C63-8D5FA3CDB715}"/>
              </a:ext>
            </a:extLst>
          </p:cNvPr>
          <p:cNvPicPr>
            <a:picLocks noChangeAspect="1"/>
          </p:cNvPicPr>
          <p:nvPr/>
        </p:nvPicPr>
        <p:blipFill>
          <a:blip r:embed="rId2"/>
          <a:srcRect r="14220" b="1"/>
          <a:stretch>
            <a:fillRect/>
          </a:stretch>
        </p:blipFill>
        <p:spPr>
          <a:xfrm>
            <a:off x="20" y="1"/>
            <a:ext cx="11292820" cy="4212708"/>
          </a:xfrm>
          <a:prstGeom prst="rect">
            <a:avLst/>
          </a:prstGeom>
        </p:spPr>
      </p:pic>
      <p:cxnSp>
        <p:nvCxnSpPr>
          <p:cNvPr id="15" name="Straight Connector 14">
            <a:extLst>
              <a:ext uri="{FF2B5EF4-FFF2-40B4-BE49-F238E27FC236}">
                <a16:creationId xmlns:a16="http://schemas.microsoft.com/office/drawing/2014/main" id="{041A955B-D579-48FD-A51C-51B0C0B69F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3000" y="4813604"/>
            <a:ext cx="0" cy="11176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EC56E9A-BAE9-1678-BA94-42F53DB00E57}"/>
              </a:ext>
            </a:extLst>
          </p:cNvPr>
          <p:cNvSpPr>
            <a:spLocks noGrp="1"/>
          </p:cNvSpPr>
          <p:nvPr>
            <p:ph idx="1"/>
          </p:nvPr>
        </p:nvSpPr>
        <p:spPr>
          <a:xfrm>
            <a:off x="5288640" y="4564673"/>
            <a:ext cx="5665871" cy="1615463"/>
          </a:xfrm>
        </p:spPr>
        <p:txBody>
          <a:bodyPr vert="horz" lIns="91440" tIns="45720" rIns="91440" bIns="45720" rtlCol="0" anchor="ctr">
            <a:normAutofit/>
          </a:bodyPr>
          <a:lstStyle/>
          <a:p>
            <a:endParaRPr lang="en-US" sz="1600"/>
          </a:p>
          <a:p>
            <a:endParaRPr lang="en-US" sz="1600"/>
          </a:p>
        </p:txBody>
      </p:sp>
      <p:sp>
        <p:nvSpPr>
          <p:cNvPr id="9" name="TextBox 8">
            <a:extLst>
              <a:ext uri="{FF2B5EF4-FFF2-40B4-BE49-F238E27FC236}">
                <a16:creationId xmlns:a16="http://schemas.microsoft.com/office/drawing/2014/main" id="{F36A77FA-07B4-5E92-7E4E-4AC3D44EA9E4}"/>
              </a:ext>
            </a:extLst>
          </p:cNvPr>
          <p:cNvSpPr txBox="1"/>
          <p:nvPr/>
        </p:nvSpPr>
        <p:spPr>
          <a:xfrm>
            <a:off x="5288795" y="5107984"/>
            <a:ext cx="249910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60/40 split</a:t>
            </a:r>
          </a:p>
        </p:txBody>
      </p:sp>
    </p:spTree>
    <p:extLst>
      <p:ext uri="{BB962C8B-B14F-4D97-AF65-F5344CB8AC3E}">
        <p14:creationId xmlns:p14="http://schemas.microsoft.com/office/powerpoint/2010/main" val="1860345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1C6BFE-F449-C40F-613A-CD318A415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7C525-306B-FAC1-E3C5-5F05A51767D7}"/>
              </a:ext>
            </a:extLst>
          </p:cNvPr>
          <p:cNvSpPr>
            <a:spLocks noGrp="1"/>
          </p:cNvSpPr>
          <p:nvPr>
            <p:ph type="title"/>
          </p:nvPr>
        </p:nvSpPr>
        <p:spPr>
          <a:xfrm>
            <a:off x="408908" y="-324026"/>
            <a:ext cx="6834158" cy="1325562"/>
          </a:xfrm>
        </p:spPr>
        <p:txBody>
          <a:bodyPr>
            <a:normAutofit/>
          </a:bodyPr>
          <a:lstStyle/>
          <a:p>
            <a:r>
              <a:rPr lang="it-IT"/>
              <a:t>Temporal Variation</a:t>
            </a:r>
            <a:endParaRPr lang="en-US"/>
          </a:p>
        </p:txBody>
      </p:sp>
      <p:sp>
        <p:nvSpPr>
          <p:cNvPr id="8" name="TextBox 7">
            <a:extLst>
              <a:ext uri="{FF2B5EF4-FFF2-40B4-BE49-F238E27FC236}">
                <a16:creationId xmlns:a16="http://schemas.microsoft.com/office/drawing/2014/main" id="{3BC5B9B3-F0CC-195E-4253-43B8B196BD4B}"/>
              </a:ext>
            </a:extLst>
          </p:cNvPr>
          <p:cNvSpPr txBox="1"/>
          <p:nvPr/>
        </p:nvSpPr>
        <p:spPr>
          <a:xfrm>
            <a:off x="346384" y="1453734"/>
            <a:ext cx="10480968"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Full-track windowed analysis</a:t>
            </a:r>
            <a:r>
              <a:rPr lang="en-US" sz="2000"/>
              <a:t> splits the audio into 30-second chunks and runs the model on each independently, so if hip-hop kicks in at 1:00, that window votes separately from the classical intro at 0:00.</a:t>
            </a:r>
          </a:p>
          <a:p>
            <a:endParaRPr lang="en-US" sz="2000"/>
          </a:p>
          <a:p>
            <a:r>
              <a:rPr lang="en-US" sz="2000" b="1"/>
              <a:t>Averaged forensic scores</a:t>
            </a:r>
            <a:r>
              <a:rPr lang="en-US" sz="2000"/>
              <a:t> mean a song that is half AI and half human will land somewhere in the middle, if the AI section scores 0.80 and the human section scores 0.10, the averaged score of ~0.45 sits just below the default 0.50 threshold, which is the honest answer for a mixed-origin track.</a:t>
            </a:r>
          </a:p>
          <a:p>
            <a:endParaRPr lang="en-US" sz="2000"/>
          </a:p>
          <a:p>
            <a:r>
              <a:rPr lang="en-US" sz="2000" b="1"/>
              <a:t>Genre probabilities are also averaged</a:t>
            </a:r>
            <a:r>
              <a:rPr lang="en-US" sz="2000"/>
              <a:t> across windows, so the final genre label reflects the dominant character of the whole track rather than just whichever style happened to open the song.</a:t>
            </a:r>
          </a:p>
          <a:p>
            <a:endParaRPr lang="en-US" sz="2000"/>
          </a:p>
        </p:txBody>
      </p:sp>
    </p:spTree>
    <p:extLst>
      <p:ext uri="{BB962C8B-B14F-4D97-AF65-F5344CB8AC3E}">
        <p14:creationId xmlns:p14="http://schemas.microsoft.com/office/powerpoint/2010/main" val="59424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227E5A-4CA8-C157-446E-45DCCEF34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65FC0-89C8-4EE6-1003-DC3487C33FE3}"/>
              </a:ext>
            </a:extLst>
          </p:cNvPr>
          <p:cNvSpPr>
            <a:spLocks noGrp="1"/>
          </p:cNvSpPr>
          <p:nvPr>
            <p:ph type="title"/>
          </p:nvPr>
        </p:nvSpPr>
        <p:spPr>
          <a:xfrm>
            <a:off x="1237489" y="566382"/>
            <a:ext cx="4534047" cy="1550284"/>
          </a:xfrm>
        </p:spPr>
        <p:txBody>
          <a:bodyPr>
            <a:normAutofit/>
          </a:bodyPr>
          <a:lstStyle/>
          <a:p>
            <a:r>
              <a:rPr lang="en-US"/>
              <a:t>Final System Architecture</a:t>
            </a:r>
          </a:p>
        </p:txBody>
      </p:sp>
      <p:sp>
        <p:nvSpPr>
          <p:cNvPr id="12" name="Rectangle 11">
            <a:extLst>
              <a:ext uri="{FF2B5EF4-FFF2-40B4-BE49-F238E27FC236}">
                <a16:creationId xmlns:a16="http://schemas.microsoft.com/office/drawing/2014/main" id="{50CF6C96-4596-4D83-A9F9-A3AB22AB4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CA116A18-5413-2247-0743-AFBAA0071097}"/>
              </a:ext>
            </a:extLst>
          </p:cNvPr>
          <p:cNvSpPr>
            <a:spLocks noGrp="1"/>
          </p:cNvSpPr>
          <p:nvPr>
            <p:ph idx="1"/>
          </p:nvPr>
        </p:nvSpPr>
        <p:spPr>
          <a:xfrm>
            <a:off x="1199535" y="2438399"/>
            <a:ext cx="4572002" cy="3853219"/>
          </a:xfrm>
        </p:spPr>
        <p:txBody>
          <a:bodyPr vert="horz" lIns="91440" tIns="45720" rIns="91440" bIns="45720" rtlCol="0">
            <a:normAutofit/>
          </a:bodyPr>
          <a:lstStyle/>
          <a:p>
            <a:endParaRPr lang="en-US"/>
          </a:p>
          <a:p>
            <a:endParaRPr lang="en-US"/>
          </a:p>
        </p:txBody>
      </p:sp>
      <p:pic>
        <p:nvPicPr>
          <p:cNvPr id="7" name="Picture 6" descr="A screenshot of a computer&#10;&#10;AI-generated content may be incorrect.">
            <a:extLst>
              <a:ext uri="{FF2B5EF4-FFF2-40B4-BE49-F238E27FC236}">
                <a16:creationId xmlns:a16="http://schemas.microsoft.com/office/drawing/2014/main" id="{09DA6EDA-79FD-7210-5DDC-8FDF24B233E9}"/>
              </a:ext>
            </a:extLst>
          </p:cNvPr>
          <p:cNvPicPr>
            <a:picLocks noChangeAspect="1"/>
          </p:cNvPicPr>
          <p:nvPr/>
        </p:nvPicPr>
        <p:blipFill>
          <a:blip r:embed="rId2"/>
          <a:srcRect l="4181"/>
          <a:stretch>
            <a:fillRect/>
          </a:stretch>
        </p:blipFill>
        <p:spPr>
          <a:xfrm>
            <a:off x="5386843" y="10"/>
            <a:ext cx="6805157" cy="6857990"/>
          </a:xfrm>
          <a:prstGeom prst="rect">
            <a:avLst/>
          </a:prstGeom>
        </p:spPr>
      </p:pic>
    </p:spTree>
    <p:extLst>
      <p:ext uri="{BB962C8B-B14F-4D97-AF65-F5344CB8AC3E}">
        <p14:creationId xmlns:p14="http://schemas.microsoft.com/office/powerpoint/2010/main" val="3740351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75CBDE-E2D5-58D9-1796-7210324F1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B0B74-61CC-9CF7-B4E6-86E84DB751C1}"/>
              </a:ext>
            </a:extLst>
          </p:cNvPr>
          <p:cNvSpPr>
            <a:spLocks noGrp="1"/>
          </p:cNvSpPr>
          <p:nvPr>
            <p:ph type="title"/>
          </p:nvPr>
        </p:nvSpPr>
        <p:spPr>
          <a:xfrm>
            <a:off x="408908" y="-324026"/>
            <a:ext cx="6834158" cy="1325562"/>
          </a:xfrm>
        </p:spPr>
        <p:txBody>
          <a:bodyPr>
            <a:normAutofit/>
          </a:bodyPr>
          <a:lstStyle/>
          <a:p>
            <a:r>
              <a:rPr lang="en-US"/>
              <a:t>Functional Description</a:t>
            </a:r>
          </a:p>
        </p:txBody>
      </p:sp>
      <p:sp>
        <p:nvSpPr>
          <p:cNvPr id="8" name="TextBox 7">
            <a:extLst>
              <a:ext uri="{FF2B5EF4-FFF2-40B4-BE49-F238E27FC236}">
                <a16:creationId xmlns:a16="http://schemas.microsoft.com/office/drawing/2014/main" id="{E85AF798-CF52-0F95-3F6A-944FFC3161AE}"/>
              </a:ext>
            </a:extLst>
          </p:cNvPr>
          <p:cNvSpPr txBox="1"/>
          <p:nvPr/>
        </p:nvSpPr>
        <p:spPr>
          <a:xfrm>
            <a:off x="346384" y="1453734"/>
            <a:ext cx="10480968" cy="45550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Load at 22,050 Hz:</a:t>
            </a:r>
            <a:r>
              <a:rPr lang="en-US"/>
              <a:t> the system samples the audio 22,050 times per second, which is the standard quality level for music analysis</a:t>
            </a:r>
          </a:p>
          <a:p>
            <a:endParaRPr lang="en-US" b="1"/>
          </a:p>
          <a:p>
            <a:r>
              <a:rPr lang="en-US" b="1"/>
              <a:t>128 Mel Bands:</a:t>
            </a:r>
            <a:r>
              <a:rPr lang="en-US"/>
              <a:t> instead of looking at every individual frequency, the system groups them into 128 buckets that match how human ears hear low frequencies get more buckets, high frequencies fewer</a:t>
            </a:r>
          </a:p>
          <a:p>
            <a:endParaRPr lang="en-US" b="1"/>
          </a:p>
          <a:p>
            <a:r>
              <a:rPr lang="en-US" b="1"/>
              <a:t>Convert to dB:</a:t>
            </a:r>
            <a:r>
              <a:rPr lang="en-US"/>
              <a:t> translates raw sound energy into the decibel scale humans use (like volume levels), making quiet and loud parts easier to compare</a:t>
            </a:r>
          </a:p>
          <a:p>
            <a:endParaRPr lang="en-US"/>
          </a:p>
          <a:p>
            <a:r>
              <a:rPr lang="en-US" b="1"/>
              <a:t>Normalize:</a:t>
            </a:r>
            <a:r>
              <a:rPr lang="en-US"/>
              <a:t> scales everything into a 0–1 range so the model isn't thrown off by tracks that are just louder or quieter than others</a:t>
            </a:r>
          </a:p>
          <a:p>
            <a:endParaRPr lang="en-US" b="1"/>
          </a:p>
          <a:p>
            <a:r>
              <a:rPr lang="en-US" b="1"/>
              <a:t>128 × 1280 grid:</a:t>
            </a:r>
            <a:r>
              <a:rPr lang="en-US"/>
              <a:t> the final result is a fixed-size image of the sound: 128 frequency levels tall, 1,280 time slices wide, every track gets the same dimensions regardless of how it was recorded</a:t>
            </a:r>
          </a:p>
          <a:p>
            <a:endParaRPr lang="en-US" sz="2000"/>
          </a:p>
        </p:txBody>
      </p:sp>
    </p:spTree>
    <p:extLst>
      <p:ext uri="{BB962C8B-B14F-4D97-AF65-F5344CB8AC3E}">
        <p14:creationId xmlns:p14="http://schemas.microsoft.com/office/powerpoint/2010/main" val="4053245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CCFF1-5150-7E38-BC90-57345D214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F50165-1655-D812-4BCF-C7D2D1ABD587}"/>
              </a:ext>
            </a:extLst>
          </p:cNvPr>
          <p:cNvSpPr>
            <a:spLocks noGrp="1"/>
          </p:cNvSpPr>
          <p:nvPr>
            <p:ph type="title"/>
          </p:nvPr>
        </p:nvSpPr>
        <p:spPr>
          <a:xfrm>
            <a:off x="2411330" y="-396240"/>
            <a:ext cx="9692640" cy="1325562"/>
          </a:xfrm>
        </p:spPr>
        <p:txBody>
          <a:bodyPr/>
          <a:lstStyle/>
          <a:p>
            <a:r>
              <a:rPr lang="en-US"/>
              <a:t>System Architecture</a:t>
            </a:r>
          </a:p>
        </p:txBody>
      </p:sp>
      <p:sp>
        <p:nvSpPr>
          <p:cNvPr id="3" name="Content Placeholder 2">
            <a:extLst>
              <a:ext uri="{FF2B5EF4-FFF2-40B4-BE49-F238E27FC236}">
                <a16:creationId xmlns:a16="http://schemas.microsoft.com/office/drawing/2014/main" id="{A55430F9-6429-6821-E036-E4EB144358D1}"/>
              </a:ext>
            </a:extLst>
          </p:cNvPr>
          <p:cNvSpPr>
            <a:spLocks noGrp="1"/>
          </p:cNvSpPr>
          <p:nvPr>
            <p:ph idx="1"/>
          </p:nvPr>
        </p:nvSpPr>
        <p:spPr/>
        <p:txBody>
          <a:bodyPr vert="horz" lIns="91440" tIns="45720" rIns="91440" bIns="45720" rtlCol="0" anchor="t">
            <a:noAutofit/>
          </a:bodyPr>
          <a:lstStyle/>
          <a:p>
            <a:endParaRPr lang="en-US" sz="2400"/>
          </a:p>
          <a:p>
            <a:endParaRPr lang="en-US"/>
          </a:p>
        </p:txBody>
      </p:sp>
      <p:pic>
        <p:nvPicPr>
          <p:cNvPr id="5" name="Picture 4" descr="A diagram of a computer&#10;&#10;AI-generated content may be incorrect.">
            <a:extLst>
              <a:ext uri="{FF2B5EF4-FFF2-40B4-BE49-F238E27FC236}">
                <a16:creationId xmlns:a16="http://schemas.microsoft.com/office/drawing/2014/main" id="{7B0D3A17-4E03-0869-48AE-7A4D8AE72605}"/>
              </a:ext>
            </a:extLst>
          </p:cNvPr>
          <p:cNvPicPr>
            <a:picLocks noChangeAspect="1"/>
          </p:cNvPicPr>
          <p:nvPr/>
        </p:nvPicPr>
        <p:blipFill>
          <a:blip r:embed="rId2"/>
          <a:stretch>
            <a:fillRect/>
          </a:stretch>
        </p:blipFill>
        <p:spPr>
          <a:xfrm>
            <a:off x="1316084" y="0"/>
            <a:ext cx="9559832" cy="6858000"/>
          </a:xfrm>
          <a:prstGeom prst="rect">
            <a:avLst/>
          </a:prstGeom>
        </p:spPr>
      </p:pic>
    </p:spTree>
    <p:extLst>
      <p:ext uri="{BB962C8B-B14F-4D97-AF65-F5344CB8AC3E}">
        <p14:creationId xmlns:p14="http://schemas.microsoft.com/office/powerpoint/2010/main" val="2610690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7345DC-DFBE-4A94-13F8-9603199C75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A9BE7-7E24-951A-59C1-D126526C205A}"/>
              </a:ext>
            </a:extLst>
          </p:cNvPr>
          <p:cNvSpPr>
            <a:spLocks noGrp="1"/>
          </p:cNvSpPr>
          <p:nvPr>
            <p:ph type="title"/>
          </p:nvPr>
        </p:nvSpPr>
        <p:spPr>
          <a:xfrm>
            <a:off x="408908" y="-324026"/>
            <a:ext cx="6834158" cy="1325562"/>
          </a:xfrm>
        </p:spPr>
        <p:txBody>
          <a:bodyPr>
            <a:normAutofit/>
          </a:bodyPr>
          <a:lstStyle/>
          <a:p>
            <a:r>
              <a:rPr lang="en-US"/>
              <a:t>Functional Description</a:t>
            </a:r>
          </a:p>
        </p:txBody>
      </p:sp>
      <p:sp>
        <p:nvSpPr>
          <p:cNvPr id="8" name="TextBox 7">
            <a:extLst>
              <a:ext uri="{FF2B5EF4-FFF2-40B4-BE49-F238E27FC236}">
                <a16:creationId xmlns:a16="http://schemas.microsoft.com/office/drawing/2014/main" id="{BA4E0F1F-8974-D33B-7B95-10C424050095}"/>
              </a:ext>
            </a:extLst>
          </p:cNvPr>
          <p:cNvSpPr txBox="1"/>
          <p:nvPr/>
        </p:nvSpPr>
        <p:spPr>
          <a:xfrm>
            <a:off x="240059" y="1001536"/>
            <a:ext cx="10480968" cy="59400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First conv layer:</a:t>
            </a:r>
            <a:r>
              <a:rPr lang="en-US"/>
              <a:t> scans the spectrogram image looking for basic patterns, the same way image recognition first looks for edges and shapes</a:t>
            </a:r>
          </a:p>
          <a:p>
            <a:endParaRPr lang="en-US"/>
          </a:p>
          <a:p>
            <a:r>
              <a:rPr lang="en-US" b="1"/>
              <a:t>Parallel frequency + time branches:</a:t>
            </a:r>
            <a:r>
              <a:rPr lang="en-US"/>
              <a:t> one branch reads up and down (what notes are being played), the other reads left and right (the rhythm and timing). Both run at the same time</a:t>
            </a:r>
          </a:p>
          <a:p>
            <a:endParaRPr lang="en-US"/>
          </a:p>
          <a:p>
            <a:r>
              <a:rPr lang="en-US" b="1"/>
              <a:t>Merging + pooling:</a:t>
            </a:r>
            <a:r>
              <a:rPr lang="en-US"/>
              <a:t> the two branches are combined and the image is compressed down to only keep the most important features</a:t>
            </a:r>
          </a:p>
          <a:p>
            <a:endParaRPr lang="en-US"/>
          </a:p>
          <a:p>
            <a:r>
              <a:rPr lang="en-US" b="1"/>
              <a:t>2,048 features: </a:t>
            </a:r>
            <a:r>
              <a:rPr lang="en-US"/>
              <a:t>by the end of the backbone, the song has been reduced to a list of 2,048 numbers that represent everything the model learned about it</a:t>
            </a:r>
          </a:p>
          <a:p>
            <a:endParaRPr lang="en-US"/>
          </a:p>
          <a:p>
            <a:r>
              <a:rPr lang="en-US" b="1"/>
              <a:t>Genre Head:</a:t>
            </a:r>
            <a:r>
              <a:rPr lang="en-US"/>
              <a:t> takes those 2,048 numbers and votes across 4 genre buckets: whichever scores highest wins</a:t>
            </a:r>
          </a:p>
          <a:p>
            <a:endParaRPr lang="en-US"/>
          </a:p>
          <a:p>
            <a:r>
              <a:rPr lang="en-US" b="1"/>
              <a:t>Forensic Head:</a:t>
            </a:r>
            <a:r>
              <a:rPr lang="en-US"/>
              <a:t> takes the same 2,048 numbers and produces a single score between 0 and 1, closer to 0 means human, closer to 1 means AI</a:t>
            </a:r>
          </a:p>
          <a:p>
            <a:endParaRPr lang="en-US"/>
          </a:p>
          <a:p>
            <a:r>
              <a:rPr lang="en-US" b="1"/>
              <a:t>The gauge showing 0.73:</a:t>
            </a:r>
            <a:r>
              <a:rPr lang="en-US"/>
              <a:t> that's just an example, but the scale is correct: our trained model puts real human music at 0.00–0.20 and AI music at 0.40–1.00</a:t>
            </a:r>
          </a:p>
          <a:p>
            <a:endParaRPr lang="en-US" sz="2000"/>
          </a:p>
        </p:txBody>
      </p:sp>
    </p:spTree>
    <p:extLst>
      <p:ext uri="{BB962C8B-B14F-4D97-AF65-F5344CB8AC3E}">
        <p14:creationId xmlns:p14="http://schemas.microsoft.com/office/powerpoint/2010/main" val="3331190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99ED6D-365F-4CAE-942F-ECA78F74B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C42F24F1-C1EF-471F-A19B-A340CE541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56C425C-3C64-47BA-B583-94D39B9B7F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6568"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black screen with white text&#10;&#10;AI-generated content may be incorrect.">
            <a:extLst>
              <a:ext uri="{FF2B5EF4-FFF2-40B4-BE49-F238E27FC236}">
                <a16:creationId xmlns:a16="http://schemas.microsoft.com/office/drawing/2014/main" id="{867A8CF4-E849-7EAB-8C62-ED9515BF2A45}"/>
              </a:ext>
            </a:extLst>
          </p:cNvPr>
          <p:cNvPicPr>
            <a:picLocks noGrp="1" noChangeAspect="1"/>
          </p:cNvPicPr>
          <p:nvPr>
            <p:ph idx="1"/>
          </p:nvPr>
        </p:nvPicPr>
        <p:blipFill>
          <a:blip r:embed="rId2"/>
          <a:stretch>
            <a:fillRect/>
          </a:stretch>
        </p:blipFill>
        <p:spPr>
          <a:xfrm>
            <a:off x="643467" y="1629665"/>
            <a:ext cx="10905066" cy="3598670"/>
          </a:xfrm>
          <a:prstGeom prst="rect">
            <a:avLst/>
          </a:prstGeom>
        </p:spPr>
      </p:pic>
    </p:spTree>
    <p:extLst>
      <p:ext uri="{BB962C8B-B14F-4D97-AF65-F5344CB8AC3E}">
        <p14:creationId xmlns:p14="http://schemas.microsoft.com/office/powerpoint/2010/main" val="4073963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7F0AC-8DA8-F374-12BF-B084420F6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842C8A-4803-E8CE-3C22-7F5231495ED5}"/>
              </a:ext>
            </a:extLst>
          </p:cNvPr>
          <p:cNvSpPr>
            <a:spLocks noGrp="1"/>
          </p:cNvSpPr>
          <p:nvPr>
            <p:ph type="title"/>
          </p:nvPr>
        </p:nvSpPr>
        <p:spPr/>
        <p:txBody>
          <a:bodyPr/>
          <a:lstStyle/>
          <a:p>
            <a:r>
              <a:rPr lang="en-US">
                <a:ea typeface="+mj-lt"/>
                <a:cs typeface="+mj-lt"/>
              </a:rPr>
              <a:t>Sensitivity Slider</a:t>
            </a:r>
            <a:endParaRPr lang="en-US"/>
          </a:p>
        </p:txBody>
      </p:sp>
      <p:sp>
        <p:nvSpPr>
          <p:cNvPr id="3" name="Content Placeholder 2">
            <a:extLst>
              <a:ext uri="{FF2B5EF4-FFF2-40B4-BE49-F238E27FC236}">
                <a16:creationId xmlns:a16="http://schemas.microsoft.com/office/drawing/2014/main" id="{8E58B618-73E9-5100-7857-AED0CF34156F}"/>
              </a:ext>
            </a:extLst>
          </p:cNvPr>
          <p:cNvSpPr>
            <a:spLocks noGrp="1"/>
          </p:cNvSpPr>
          <p:nvPr>
            <p:ph idx="1"/>
          </p:nvPr>
        </p:nvSpPr>
        <p:spPr>
          <a:xfrm>
            <a:off x="617784" y="3560162"/>
            <a:ext cx="9725444" cy="4351337"/>
          </a:xfrm>
        </p:spPr>
        <p:txBody>
          <a:bodyPr vert="horz" lIns="91440" tIns="45720" rIns="91440" bIns="45720" rtlCol="0" anchor="t">
            <a:noAutofit/>
          </a:bodyPr>
          <a:lstStyle/>
          <a:p>
            <a:r>
              <a:rPr lang="en-US" sz="2400">
                <a:ea typeface="+mn-lt"/>
                <a:cs typeface="+mn-lt"/>
              </a:rPr>
              <a:t>0 → threshold 0.95 → ultra-strict, misses borderline AI but zero false positives </a:t>
            </a:r>
            <a:endParaRPr lang="en-US"/>
          </a:p>
          <a:p>
            <a:r>
              <a:rPr lang="en-US" sz="2400">
                <a:ea typeface="+mn-lt"/>
                <a:cs typeface="+mn-lt"/>
              </a:rPr>
              <a:t>50 (default) → threshold 0.50 → 100% human correct,100% AI correct </a:t>
            </a:r>
          </a:p>
          <a:p>
            <a:r>
              <a:rPr lang="en-US" sz="2400">
                <a:ea typeface="+mn-lt"/>
                <a:cs typeface="+mn-lt"/>
              </a:rPr>
              <a:t>100 → threshold 0.05 → catches everything including borderline AI, some false positives possible</a:t>
            </a:r>
            <a:endParaRPr lang="en-US" sz="2400"/>
          </a:p>
          <a:p>
            <a:endParaRPr lang="en-US"/>
          </a:p>
        </p:txBody>
      </p:sp>
      <p:pic>
        <p:nvPicPr>
          <p:cNvPr id="4" name="Picture 3" descr="A white circle and purple line&#10;&#10;AI-generated content may be incorrect.">
            <a:extLst>
              <a:ext uri="{FF2B5EF4-FFF2-40B4-BE49-F238E27FC236}">
                <a16:creationId xmlns:a16="http://schemas.microsoft.com/office/drawing/2014/main" id="{A9C0A44B-41FF-247E-6E7B-74A26BC2B03B}"/>
              </a:ext>
            </a:extLst>
          </p:cNvPr>
          <p:cNvPicPr>
            <a:picLocks noChangeAspect="1"/>
          </p:cNvPicPr>
          <p:nvPr/>
        </p:nvPicPr>
        <p:blipFill>
          <a:blip r:embed="rId2"/>
          <a:stretch>
            <a:fillRect/>
          </a:stretch>
        </p:blipFill>
        <p:spPr>
          <a:xfrm>
            <a:off x="615986" y="1950481"/>
            <a:ext cx="9525000" cy="1323975"/>
          </a:xfrm>
          <a:prstGeom prst="rect">
            <a:avLst/>
          </a:prstGeom>
        </p:spPr>
      </p:pic>
    </p:spTree>
    <p:extLst>
      <p:ext uri="{BB962C8B-B14F-4D97-AF65-F5344CB8AC3E}">
        <p14:creationId xmlns:p14="http://schemas.microsoft.com/office/powerpoint/2010/main" val="544751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BC8B6-4EE8-2A18-CDDF-CE3049FF7D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B9C23-A51B-821C-1A77-32F8CE90F7D7}"/>
              </a:ext>
            </a:extLst>
          </p:cNvPr>
          <p:cNvSpPr>
            <a:spLocks noGrp="1"/>
          </p:cNvSpPr>
          <p:nvPr>
            <p:ph type="title"/>
          </p:nvPr>
        </p:nvSpPr>
        <p:spPr>
          <a:xfrm>
            <a:off x="3625263" y="2764869"/>
            <a:ext cx="9692640" cy="1325562"/>
          </a:xfrm>
        </p:spPr>
        <p:txBody>
          <a:bodyPr>
            <a:normAutofit/>
          </a:bodyPr>
          <a:lstStyle/>
          <a:p>
            <a:r>
              <a:rPr lang="en-US" sz="8800"/>
              <a:t>DEMO</a:t>
            </a:r>
          </a:p>
        </p:txBody>
      </p:sp>
    </p:spTree>
    <p:extLst>
      <p:ext uri="{BB962C8B-B14F-4D97-AF65-F5344CB8AC3E}">
        <p14:creationId xmlns:p14="http://schemas.microsoft.com/office/powerpoint/2010/main" val="2798295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17397-A186-EC0F-B334-3DF9EC431AEE}"/>
              </a:ext>
            </a:extLst>
          </p:cNvPr>
          <p:cNvSpPr>
            <a:spLocks noGrp="1"/>
          </p:cNvSpPr>
          <p:nvPr>
            <p:ph type="title"/>
          </p:nvPr>
        </p:nvSpPr>
        <p:spPr>
          <a:xfrm>
            <a:off x="1261872" y="-189596"/>
            <a:ext cx="9692640" cy="1325562"/>
          </a:xfrm>
        </p:spPr>
        <p:txBody>
          <a:bodyPr/>
          <a:lstStyle/>
          <a:p>
            <a:r>
              <a:rPr lang="en-US"/>
              <a:t>Final Milestone Summary</a:t>
            </a:r>
          </a:p>
        </p:txBody>
      </p:sp>
      <p:sp>
        <p:nvSpPr>
          <p:cNvPr id="3" name="Content Placeholder 2">
            <a:extLst>
              <a:ext uri="{FF2B5EF4-FFF2-40B4-BE49-F238E27FC236}">
                <a16:creationId xmlns:a16="http://schemas.microsoft.com/office/drawing/2014/main" id="{A0F5494A-E698-7E3B-D2B0-55438DFD5405}"/>
              </a:ext>
            </a:extLst>
          </p:cNvPr>
          <p:cNvSpPr>
            <a:spLocks noGrp="1"/>
          </p:cNvSpPr>
          <p:nvPr>
            <p:ph idx="1"/>
          </p:nvPr>
        </p:nvSpPr>
        <p:spPr/>
        <p:txBody>
          <a:bodyPr vert="horz" lIns="91440" tIns="45720" rIns="91440" bIns="45720" rtlCol="0" anchor="t">
            <a:normAutofit/>
          </a:bodyPr>
          <a:lstStyle/>
          <a:p>
            <a:r>
              <a:rPr lang="en-US" sz="2800">
                <a:ea typeface="+mn-lt"/>
                <a:cs typeface="+mn-lt"/>
              </a:rPr>
              <a:t>Model failed completely – Classification and generation detection</a:t>
            </a:r>
            <a:endParaRPr lang="en-US" sz="2800"/>
          </a:p>
          <a:p>
            <a:r>
              <a:rPr lang="en-US" sz="2800">
                <a:ea typeface="+mn-lt"/>
                <a:cs typeface="+mn-lt"/>
              </a:rPr>
              <a:t>Found preprocessing bug</a:t>
            </a:r>
            <a:endParaRPr lang="en-US" sz="2800"/>
          </a:p>
          <a:p>
            <a:r>
              <a:rPr lang="en-US" sz="2800">
                <a:ea typeface="+mn-lt"/>
                <a:cs typeface="+mn-lt"/>
              </a:rPr>
              <a:t>Found pipeline mismatch” </a:t>
            </a:r>
            <a:endParaRPr lang="en-US" sz="2800"/>
          </a:p>
          <a:p>
            <a:r>
              <a:rPr lang="en-US" sz="2800">
                <a:ea typeface="+mn-lt"/>
                <a:cs typeface="+mn-lt"/>
              </a:rPr>
              <a:t>Fixed system end to end</a:t>
            </a:r>
            <a:endParaRPr lang="en-US" sz="2800"/>
          </a:p>
          <a:p>
            <a:r>
              <a:rPr lang="en-US" sz="2800">
                <a:ea typeface="+mn-lt"/>
                <a:cs typeface="+mn-lt"/>
              </a:rPr>
              <a:t>Clean separation and structured architecture</a:t>
            </a:r>
            <a:endParaRPr lang="en-US" sz="2800"/>
          </a:p>
          <a:p>
            <a:endParaRPr lang="en-US"/>
          </a:p>
        </p:txBody>
      </p:sp>
    </p:spTree>
    <p:extLst>
      <p:ext uri="{BB962C8B-B14F-4D97-AF65-F5344CB8AC3E}">
        <p14:creationId xmlns:p14="http://schemas.microsoft.com/office/powerpoint/2010/main" val="3824343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85608-D045-23B7-690C-426C39A24B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E867F-6081-E78A-302F-8979BD6139BA}"/>
              </a:ext>
            </a:extLst>
          </p:cNvPr>
          <p:cNvSpPr>
            <a:spLocks noGrp="1"/>
          </p:cNvSpPr>
          <p:nvPr>
            <p:ph type="title"/>
          </p:nvPr>
        </p:nvSpPr>
        <p:spPr>
          <a:xfrm>
            <a:off x="1261872" y="-189596"/>
            <a:ext cx="9692640" cy="1325562"/>
          </a:xfrm>
        </p:spPr>
        <p:txBody>
          <a:bodyPr/>
          <a:lstStyle/>
          <a:p>
            <a:r>
              <a:rPr lang="en-US"/>
              <a:t>Future Improvements</a:t>
            </a:r>
          </a:p>
        </p:txBody>
      </p:sp>
      <p:sp>
        <p:nvSpPr>
          <p:cNvPr id="3" name="Content Placeholder 2">
            <a:extLst>
              <a:ext uri="{FF2B5EF4-FFF2-40B4-BE49-F238E27FC236}">
                <a16:creationId xmlns:a16="http://schemas.microsoft.com/office/drawing/2014/main" id="{240EB429-FA32-BD4D-FFB8-1CDD7DA6933E}"/>
              </a:ext>
            </a:extLst>
          </p:cNvPr>
          <p:cNvSpPr>
            <a:spLocks noGrp="1"/>
          </p:cNvSpPr>
          <p:nvPr>
            <p:ph idx="1"/>
          </p:nvPr>
        </p:nvSpPr>
        <p:spPr/>
        <p:txBody>
          <a:bodyPr vert="horz" lIns="91440" tIns="45720" rIns="91440" bIns="45720" rtlCol="0" anchor="t">
            <a:normAutofit/>
          </a:bodyPr>
          <a:lstStyle/>
          <a:p>
            <a:r>
              <a:rPr lang="en-US" sz="2800">
                <a:ea typeface="+mn-lt"/>
                <a:cs typeface="+mn-lt"/>
              </a:rPr>
              <a:t>Expanding results based on 30 second segments </a:t>
            </a:r>
            <a:endParaRPr lang="en-US" sz="2800"/>
          </a:p>
          <a:p>
            <a:r>
              <a:rPr lang="en-US" sz="2800">
                <a:ea typeface="+mn-lt"/>
                <a:cs typeface="+mn-lt"/>
              </a:rPr>
              <a:t>Increasing AI dataset to improve accuracy </a:t>
            </a:r>
            <a:endParaRPr lang="en-US" sz="2800"/>
          </a:p>
          <a:p>
            <a:r>
              <a:rPr lang="en-US" sz="2800">
                <a:ea typeface="+mn-lt"/>
                <a:cs typeface="+mn-lt"/>
              </a:rPr>
              <a:t>Differentiating similar genre classes mathematically </a:t>
            </a:r>
          </a:p>
          <a:p>
            <a:r>
              <a:rPr lang="en-US" sz="2800">
                <a:ea typeface="+mn-lt"/>
                <a:cs typeface="+mn-lt"/>
              </a:rPr>
              <a:t>Implementing an assistive table to help a user choose the right percentages on the slide scale</a:t>
            </a:r>
            <a:endParaRPr lang="en-US" sz="2800"/>
          </a:p>
          <a:p>
            <a:endParaRPr lang="en-US"/>
          </a:p>
        </p:txBody>
      </p:sp>
    </p:spTree>
    <p:extLst>
      <p:ext uri="{BB962C8B-B14F-4D97-AF65-F5344CB8AC3E}">
        <p14:creationId xmlns:p14="http://schemas.microsoft.com/office/powerpoint/2010/main" val="2743679969"/>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2f08379-24f0-4d72-9253-428eeba6db7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89CA37E38E9F0459BCCFD96F3552AB7" ma:contentTypeVersion="14" ma:contentTypeDescription="Create a new document." ma:contentTypeScope="" ma:versionID="355c45c65821024d4f5dc0c556f16631">
  <xsd:schema xmlns:xsd="http://www.w3.org/2001/XMLSchema" xmlns:xs="http://www.w3.org/2001/XMLSchema" xmlns:p="http://schemas.microsoft.com/office/2006/metadata/properties" xmlns:ns3="bd73da1e-bea5-44c2-bc93-be6282241255" xmlns:ns4="a2f08379-24f0-4d72-9253-428eeba6db74" targetNamespace="http://schemas.microsoft.com/office/2006/metadata/properties" ma:root="true" ma:fieldsID="6410d4edf67eca7634c0f8dbb0590186" ns3:_="" ns4:_="">
    <xsd:import namespace="bd73da1e-bea5-44c2-bc93-be6282241255"/>
    <xsd:import namespace="a2f08379-24f0-4d72-9253-428eeba6db7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_activity" minOccurs="0"/>
                <xsd:element ref="ns4:MediaServiceObjectDetectorVersions" minOccurs="0"/>
                <xsd:element ref="ns4:MediaServiceSearchProperties" minOccurs="0"/>
                <xsd:element ref="ns4:MediaServiceDateTaken" minOccurs="0"/>
                <xsd:element ref="ns4:MediaServiceSystemTags" minOccurs="0"/>
                <xsd:element ref="ns4:MediaServiceGenerationTime" minOccurs="0"/>
                <xsd:element ref="ns4:MediaServiceEventHashCode" minOccurs="0"/>
                <xsd:element ref="ns4:MediaLengthInSeconds"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73da1e-bea5-44c2-bc93-be628224125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f08379-24f0-4d72-9253-428eeba6db7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12A154-70CF-4E44-A3B1-644B89F23227}">
  <ds:schemaRefs>
    <ds:schemaRef ds:uri="a2f08379-24f0-4d72-9253-428eeba6db74"/>
    <ds:schemaRef ds:uri="bd73da1e-bea5-44c2-bc93-be628224125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85781D0-779D-4131-BE99-9B581BF86124}">
  <ds:schemaRefs>
    <ds:schemaRef ds:uri="http://schemas.microsoft.com/sharepoint/v3/contenttype/forms"/>
  </ds:schemaRefs>
</ds:datastoreItem>
</file>

<file path=customXml/itemProps3.xml><?xml version="1.0" encoding="utf-8"?>
<ds:datastoreItem xmlns:ds="http://schemas.openxmlformats.org/officeDocument/2006/customXml" ds:itemID="{0A9040C7-C303-47EE-9C65-6EBB0974E680}">
  <ds:schemaRefs>
    <ds:schemaRef ds:uri="a2f08379-24f0-4d72-9253-428eeba6db74"/>
    <ds:schemaRef ds:uri="bd73da1e-bea5-44c2-bc93-be62822412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Project Proposal</Template>
  <Application>Microsoft Office PowerPoint</Application>
  <PresentationFormat>Widescreen</PresentationFormat>
  <Slides>21</Slides>
  <Notes>5</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View</vt:lpstr>
      <vt:lpstr>Music Genre Classification</vt:lpstr>
      <vt:lpstr>Intro</vt:lpstr>
      <vt:lpstr>Milestones</vt:lpstr>
      <vt:lpstr>Data Limitations</vt:lpstr>
      <vt:lpstr>Initial Results </vt:lpstr>
      <vt:lpstr>PowerPoint Presentation</vt:lpstr>
      <vt:lpstr>Model Failure Analysis</vt:lpstr>
      <vt:lpstr>Solution</vt:lpstr>
      <vt:lpstr>Genre Combination</vt:lpstr>
      <vt:lpstr>Key Training Decisions</vt:lpstr>
      <vt:lpstr>Classification vs Analysis Value </vt:lpstr>
      <vt:lpstr>Temporal Variation</vt:lpstr>
      <vt:lpstr>Final System Architecture</vt:lpstr>
      <vt:lpstr>Functional Description</vt:lpstr>
      <vt:lpstr>System Architecture</vt:lpstr>
      <vt:lpstr>Functional Description</vt:lpstr>
      <vt:lpstr>PowerPoint Presentation</vt:lpstr>
      <vt:lpstr>Sensitivity Slider</vt:lpstr>
      <vt:lpstr>DEMO</vt:lpstr>
      <vt:lpstr>Final Milestone Summary</vt:lpstr>
      <vt:lpstr>Future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Alao, Toluwani I</dc:creator>
  <cp:revision>1</cp:revision>
  <cp:lastPrinted>2026-04-29T12:55:40Z</cp:lastPrinted>
  <dcterms:created xsi:type="dcterms:W3CDTF">2026-03-09T13:33:29Z</dcterms:created>
  <dcterms:modified xsi:type="dcterms:W3CDTF">2026-04-29T14:44:46Z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0x010100889CA37E38E9F0459BCCFD96F3552AB7</vt:lpwstr>
  </property>
</Properties>
</file>